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angle">
            <a:avLst/>
          </a:prstGeom>
          <a:solidFill>
            <a:srgbClr val="0891B2"/>
          </a:solidFill>
          <a:ln/>
        </p:spPr>
      </p:sp>
      <p:sp>
        <p:nvSpPr>
          <p:cNvPr id="3" name="Shape 1"/>
          <p:cNvSpPr/>
          <p:nvPr/>
        </p:nvSpPr>
        <p:spPr>
          <a:xfrm>
            <a:off x="6858000" y="-1371600"/>
            <a:ext cx="4114800" cy="4114800"/>
          </a:xfrm>
          <a:prstGeom prst="oval">
            <a:avLst/>
          </a:prstGeom>
          <a:solidFill>
            <a:srgbClr val="0891B2">
              <a:alpha val="10000"/>
            </a:srgbClr>
          </a:solidFill>
          <a:ln/>
        </p:spPr>
      </p:sp>
      <p:sp>
        <p:nvSpPr>
          <p:cNvPr id="4" name="Shape 2"/>
          <p:cNvSpPr/>
          <p:nvPr/>
        </p:nvSpPr>
        <p:spPr>
          <a:xfrm>
            <a:off x="7498080" y="2743200"/>
            <a:ext cx="2743200" cy="2743200"/>
          </a:xfrm>
          <a:prstGeom prst="oval">
            <a:avLst/>
          </a:prstGeom>
          <a:solidFill>
            <a:srgbClr val="06B6D4">
              <a:alpha val="8000"/>
            </a:srgbClr>
          </a:solidFill>
          <a:ln/>
        </p:spPr>
      </p:sp>
      <p:sp>
        <p:nvSpPr>
          <p:cNvPr id="5" name="Text 3"/>
          <p:cNvSpPr/>
          <p:nvPr/>
        </p:nvSpPr>
        <p:spPr>
          <a:xfrm>
            <a:off x="640080" y="914400"/>
            <a:ext cx="7315200" cy="1828800"/>
          </a:xfrm>
          <a:prstGeom prst="rect">
            <a:avLst/>
          </a:prstGeom>
          <a:noFill/>
          <a:ln/>
        </p:spPr>
        <p:txBody>
          <a:bodyPr wrap="square" rtlCol="0" anchor="ctr"/>
          <a:lstStyle/>
          <a:p>
            <a:pPr indent="0" marL="0">
              <a:lnSpc>
                <a:spcPct val="110000"/>
              </a:lnSpc>
              <a:buNone/>
            </a:pPr>
            <a:r>
              <a:rPr lang="en-US" sz="4200" b="1" dirty="0">
                <a:solidFill>
                  <a:srgbClr val="FFFFFF"/>
                </a:solidFill>
                <a:latin typeface="Georgia" pitchFamily="34" charset="0"/>
                <a:ea typeface="Georgia" pitchFamily="34" charset="-122"/>
                <a:cs typeface="Georgia" pitchFamily="34" charset="-120"/>
              </a:rPr>
              <a:t>AI for Clinical</a:t>
            </a:r>
            <a:endParaRPr lang="en-US" sz="4200" dirty="0"/>
          </a:p>
          <a:p>
            <a:pPr indent="0" marL="0">
              <a:lnSpc>
                <a:spcPct val="110000"/>
              </a:lnSpc>
              <a:buNone/>
            </a:pPr>
            <a:r>
              <a:rPr lang="en-US" sz="4200" b="1" dirty="0">
                <a:solidFill>
                  <a:srgbClr val="FFFFFF"/>
                </a:solidFill>
                <a:latin typeface="Georgia" pitchFamily="34" charset="0"/>
                <a:ea typeface="Georgia" pitchFamily="34" charset="-122"/>
                <a:cs typeface="Georgia" pitchFamily="34" charset="-120"/>
              </a:rPr>
              <a:t>SAS Programmers</a:t>
            </a:r>
            <a:endParaRPr lang="en-US" sz="4200" dirty="0"/>
          </a:p>
        </p:txBody>
      </p:sp>
      <p:sp>
        <p:nvSpPr>
          <p:cNvPr id="6" name="Text 4"/>
          <p:cNvSpPr/>
          <p:nvPr/>
        </p:nvSpPr>
        <p:spPr>
          <a:xfrm>
            <a:off x="640080" y="2743200"/>
            <a:ext cx="5486400" cy="457200"/>
          </a:xfrm>
          <a:prstGeom prst="rect">
            <a:avLst/>
          </a:prstGeom>
          <a:noFill/>
          <a:ln/>
        </p:spPr>
        <p:txBody>
          <a:bodyPr wrap="square" rtlCol="0" anchor="ctr"/>
          <a:lstStyle/>
          <a:p>
            <a:pPr indent="0" marL="0">
              <a:buNone/>
            </a:pPr>
            <a:r>
              <a:rPr lang="en-US" sz="1800" i="1" dirty="0">
                <a:solidFill>
                  <a:srgbClr val="06B6D4"/>
                </a:solidFill>
                <a:latin typeface="Calibri" pitchFamily="34" charset="0"/>
                <a:ea typeface="Calibri" pitchFamily="34" charset="-122"/>
                <a:cs typeface="Calibri" pitchFamily="34" charset="-120"/>
              </a:rPr>
              <a:t>A Comprehensive Training Program</a:t>
            </a:r>
            <a:endParaRPr lang="en-US" sz="1800" dirty="0"/>
          </a:p>
        </p:txBody>
      </p:sp>
      <p:sp>
        <p:nvSpPr>
          <p:cNvPr id="7" name="Text 5"/>
          <p:cNvSpPr/>
          <p:nvPr/>
        </p:nvSpPr>
        <p:spPr>
          <a:xfrm>
            <a:off x="640080" y="3200400"/>
            <a:ext cx="6400800" cy="365760"/>
          </a:xfrm>
          <a:prstGeom prst="rect">
            <a:avLst/>
          </a:prstGeom>
          <a:noFill/>
          <a:ln/>
        </p:spPr>
        <p:txBody>
          <a:bodyPr wrap="square" rtlCol="0" anchor="ctr"/>
          <a:lstStyle/>
          <a:p>
            <a:pPr indent="0" marL="0">
              <a:buNone/>
            </a:pPr>
            <a:r>
              <a:rPr lang="en-US" sz="1400" dirty="0">
                <a:solidFill>
                  <a:srgbClr val="94A3B8"/>
                </a:solidFill>
                <a:latin typeface="Calibri" pitchFamily="34" charset="0"/>
                <a:ea typeface="Calibri" pitchFamily="34" charset="-122"/>
                <a:cs typeface="Calibri" pitchFamily="34" charset="-120"/>
              </a:rPr>
              <a:t>From ML Fundamentals to Agentic SDTM Automation</a:t>
            </a:r>
            <a:endParaRPr lang="en-US" sz="1400" dirty="0"/>
          </a:p>
        </p:txBody>
      </p:sp>
      <p:sp>
        <p:nvSpPr>
          <p:cNvPr id="8" name="Text 6"/>
          <p:cNvSpPr/>
          <p:nvPr/>
        </p:nvSpPr>
        <p:spPr>
          <a:xfrm>
            <a:off x="640080" y="4114800"/>
            <a:ext cx="4572000" cy="27432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February 2026  |  Vikas Gaddu</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Program Overview</a:t>
            </a:r>
            <a:endParaRPr lang="en-US" sz="3200" dirty="0"/>
          </a:p>
        </p:txBody>
      </p:sp>
      <p:sp>
        <p:nvSpPr>
          <p:cNvPr id="3" name="Text 1"/>
          <p:cNvSpPr/>
          <p:nvPr/>
        </p:nvSpPr>
        <p:spPr>
          <a:xfrm>
            <a:off x="457200" y="868680"/>
            <a:ext cx="822960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Three phases building from foundations to full automation</a:t>
            </a:r>
            <a:endParaRPr lang="en-US" sz="1400" dirty="0"/>
          </a:p>
        </p:txBody>
      </p:sp>
      <p:sp>
        <p:nvSpPr>
          <p:cNvPr id="4" name="Shape 2"/>
          <p:cNvSpPr/>
          <p:nvPr/>
        </p:nvSpPr>
        <p:spPr>
          <a:xfrm>
            <a:off x="0" y="4892040"/>
            <a:ext cx="9144000" cy="251460"/>
          </a:xfrm>
          <a:prstGeom prst="rectangle">
            <a:avLst/>
          </a:prstGeom>
          <a:solidFill>
            <a:srgbClr val="0F172A"/>
          </a:solidFill>
          <a:ln/>
        </p:spPr>
      </p:sp>
      <p:sp>
        <p:nvSpPr>
          <p:cNvPr id="5" name="Text 3"/>
          <p:cNvSpPr/>
          <p:nvPr/>
        </p:nvSpPr>
        <p:spPr>
          <a:xfrm>
            <a:off x="457200" y="4892040"/>
            <a:ext cx="8229600" cy="25146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AI for Clinical SAS Programmers  |  Training Program 2026</a:t>
            </a:r>
            <a:endParaRPr lang="en-US" sz="800" dirty="0"/>
          </a:p>
        </p:txBody>
      </p:sp>
      <p:sp>
        <p:nvSpPr>
          <p:cNvPr id="6" name="Text 4"/>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 / 22</a:t>
            </a:r>
            <a:endParaRPr lang="en-US" sz="900" dirty="0"/>
          </a:p>
        </p:txBody>
      </p:sp>
      <p:sp>
        <p:nvSpPr>
          <p:cNvPr id="7" name="Shape 5"/>
          <p:cNvSpPr/>
          <p:nvPr/>
        </p:nvSpPr>
        <p:spPr>
          <a:xfrm>
            <a:off x="457200" y="1554480"/>
            <a:ext cx="2606040" cy="301752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8" name="Shape 6"/>
          <p:cNvSpPr/>
          <p:nvPr/>
        </p:nvSpPr>
        <p:spPr>
          <a:xfrm>
            <a:off x="457200" y="1554480"/>
            <a:ext cx="2606040" cy="54864"/>
          </a:xfrm>
          <a:prstGeom prst="rectangle">
            <a:avLst/>
          </a:prstGeom>
          <a:solidFill>
            <a:srgbClr val="0891B2"/>
          </a:solidFill>
          <a:ln/>
        </p:spPr>
      </p:sp>
      <p:sp>
        <p:nvSpPr>
          <p:cNvPr id="9" name="Text 7"/>
          <p:cNvSpPr/>
          <p:nvPr/>
        </p:nvSpPr>
        <p:spPr>
          <a:xfrm>
            <a:off x="685800" y="1783080"/>
            <a:ext cx="2148840" cy="274320"/>
          </a:xfrm>
          <a:prstGeom prst="rect">
            <a:avLst/>
          </a:prstGeom>
          <a:noFill/>
          <a:ln/>
        </p:spPr>
        <p:txBody>
          <a:bodyPr wrap="square"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PHASE</a:t>
            </a:r>
            <a:endParaRPr lang="en-US" sz="1000" dirty="0"/>
          </a:p>
        </p:txBody>
      </p:sp>
      <p:sp>
        <p:nvSpPr>
          <p:cNvPr id="10" name="Text 8"/>
          <p:cNvSpPr/>
          <p:nvPr/>
        </p:nvSpPr>
        <p:spPr>
          <a:xfrm>
            <a:off x="685800" y="1965960"/>
            <a:ext cx="2148840" cy="548640"/>
          </a:xfrm>
          <a:prstGeom prst="rect">
            <a:avLst/>
          </a:prstGeom>
          <a:noFill/>
          <a:ln/>
        </p:spPr>
        <p:txBody>
          <a:bodyPr wrap="square" rtlCol="0" anchor="ctr"/>
          <a:lstStyle/>
          <a:p>
            <a:pPr indent="0" marL="0">
              <a:buNone/>
            </a:pPr>
            <a:r>
              <a:rPr lang="en-US" sz="3600" b="1" dirty="0">
                <a:solidFill>
                  <a:srgbClr val="0891B2"/>
                </a:solidFill>
                <a:latin typeface="Georgia" pitchFamily="34" charset="0"/>
                <a:ea typeface="Georgia" pitchFamily="34" charset="-122"/>
                <a:cs typeface="Georgia" pitchFamily="34" charset="-120"/>
              </a:rPr>
              <a:t>01</a:t>
            </a:r>
            <a:endParaRPr lang="en-US" sz="3600" dirty="0"/>
          </a:p>
        </p:txBody>
      </p:sp>
      <p:pic>
        <p:nvPicPr>
          <p:cNvPr id="11" name="Image 0" descr="preencoded.png"/>
          <p:cNvPicPr>
            <a:picLocks noChangeAspect="1"/>
          </p:cNvPicPr>
          <p:nvPr/>
        </p:nvPicPr>
        <p:blipFill>
          <a:blip r:embed="rId1"/>
          <a:stretch>
            <a:fillRect/>
          </a:stretch>
        </p:blipFill>
        <p:spPr>
          <a:xfrm>
            <a:off x="2240280" y="1920240"/>
            <a:ext cx="548640" cy="548640"/>
          </a:xfrm>
          <a:prstGeom prst="rect">
            <a:avLst/>
          </a:prstGeom>
        </p:spPr>
      </p:pic>
      <p:sp>
        <p:nvSpPr>
          <p:cNvPr id="12" name="Text 9"/>
          <p:cNvSpPr/>
          <p:nvPr/>
        </p:nvSpPr>
        <p:spPr>
          <a:xfrm>
            <a:off x="685800" y="2606040"/>
            <a:ext cx="2148840" cy="731520"/>
          </a:xfrm>
          <a:prstGeom prst="rect">
            <a:avLst/>
          </a:prstGeom>
          <a:noFill/>
          <a:ln/>
        </p:spPr>
        <p:txBody>
          <a:bodyPr wrap="square"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AI/ML</a:t>
            </a:r>
            <a:endParaRPr lang="en-US" sz="1600" dirty="0"/>
          </a:p>
          <a:p>
            <a:pPr indent="0" marL="0">
              <a:buNone/>
            </a:pPr>
            <a:r>
              <a:rPr lang="en-US" sz="1600" b="1" dirty="0">
                <a:solidFill>
                  <a:srgbClr val="0F172A"/>
                </a:solidFill>
                <a:latin typeface="Georgia" pitchFamily="34" charset="0"/>
                <a:ea typeface="Georgia" pitchFamily="34" charset="-122"/>
                <a:cs typeface="Georgia" pitchFamily="34" charset="-120"/>
              </a:rPr>
              <a:t>Foundations</a:t>
            </a:r>
            <a:endParaRPr lang="en-US" sz="1600" dirty="0"/>
          </a:p>
        </p:txBody>
      </p:sp>
      <p:sp>
        <p:nvSpPr>
          <p:cNvPr id="13" name="Text 10"/>
          <p:cNvSpPr/>
          <p:nvPr/>
        </p:nvSpPr>
        <p:spPr>
          <a:xfrm>
            <a:off x="685800" y="3337560"/>
            <a:ext cx="2148840" cy="10058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Regression, neural networks, model comparison &amp; evaluation using SAS Viya</a:t>
            </a:r>
            <a:endParaRPr lang="en-US" sz="1100" dirty="0"/>
          </a:p>
        </p:txBody>
      </p:sp>
      <p:sp>
        <p:nvSpPr>
          <p:cNvPr id="14" name="Shape 11"/>
          <p:cNvSpPr/>
          <p:nvPr/>
        </p:nvSpPr>
        <p:spPr>
          <a:xfrm>
            <a:off x="3291840" y="1554480"/>
            <a:ext cx="2606040" cy="301752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15" name="Shape 12"/>
          <p:cNvSpPr/>
          <p:nvPr/>
        </p:nvSpPr>
        <p:spPr>
          <a:xfrm>
            <a:off x="3291840" y="1554480"/>
            <a:ext cx="2606040" cy="54864"/>
          </a:xfrm>
          <a:prstGeom prst="rectangle">
            <a:avLst/>
          </a:prstGeom>
          <a:solidFill>
            <a:srgbClr val="06B6D4"/>
          </a:solidFill>
          <a:ln/>
        </p:spPr>
      </p:sp>
      <p:sp>
        <p:nvSpPr>
          <p:cNvPr id="16" name="Text 13"/>
          <p:cNvSpPr/>
          <p:nvPr/>
        </p:nvSpPr>
        <p:spPr>
          <a:xfrm>
            <a:off x="3520440" y="1783080"/>
            <a:ext cx="2148840" cy="274320"/>
          </a:xfrm>
          <a:prstGeom prst="rect">
            <a:avLst/>
          </a:prstGeom>
          <a:noFill/>
          <a:ln/>
        </p:spPr>
        <p:txBody>
          <a:bodyPr wrap="square"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PHASE</a:t>
            </a:r>
            <a:endParaRPr lang="en-US" sz="1000" dirty="0"/>
          </a:p>
        </p:txBody>
      </p:sp>
      <p:sp>
        <p:nvSpPr>
          <p:cNvPr id="17" name="Text 14"/>
          <p:cNvSpPr/>
          <p:nvPr/>
        </p:nvSpPr>
        <p:spPr>
          <a:xfrm>
            <a:off x="3520440" y="1965960"/>
            <a:ext cx="2148840" cy="548640"/>
          </a:xfrm>
          <a:prstGeom prst="rect">
            <a:avLst/>
          </a:prstGeom>
          <a:noFill/>
          <a:ln/>
        </p:spPr>
        <p:txBody>
          <a:bodyPr wrap="square" rtlCol="0" anchor="ctr"/>
          <a:lstStyle/>
          <a:p>
            <a:pPr indent="0" marL="0">
              <a:buNone/>
            </a:pPr>
            <a:r>
              <a:rPr lang="en-US" sz="3600" b="1" dirty="0">
                <a:solidFill>
                  <a:srgbClr val="06B6D4"/>
                </a:solidFill>
                <a:latin typeface="Georgia" pitchFamily="34" charset="0"/>
                <a:ea typeface="Georgia" pitchFamily="34" charset="-122"/>
                <a:cs typeface="Georgia" pitchFamily="34" charset="-120"/>
              </a:rPr>
              <a:t>02</a:t>
            </a:r>
            <a:endParaRPr lang="en-US" sz="3600" dirty="0"/>
          </a:p>
        </p:txBody>
      </p:sp>
      <p:pic>
        <p:nvPicPr>
          <p:cNvPr id="18" name="Image 1" descr="preencoded.png"/>
          <p:cNvPicPr>
            <a:picLocks noChangeAspect="1"/>
          </p:cNvPicPr>
          <p:nvPr/>
        </p:nvPicPr>
        <p:blipFill>
          <a:blip r:embed="rId2"/>
          <a:stretch>
            <a:fillRect/>
          </a:stretch>
        </p:blipFill>
        <p:spPr>
          <a:xfrm>
            <a:off x="5074920" y="1920240"/>
            <a:ext cx="548640" cy="548640"/>
          </a:xfrm>
          <a:prstGeom prst="rect">
            <a:avLst/>
          </a:prstGeom>
        </p:spPr>
      </p:pic>
      <p:sp>
        <p:nvSpPr>
          <p:cNvPr id="19" name="Text 15"/>
          <p:cNvSpPr/>
          <p:nvPr/>
        </p:nvSpPr>
        <p:spPr>
          <a:xfrm>
            <a:off x="3520440" y="2606040"/>
            <a:ext cx="2148840" cy="731520"/>
          </a:xfrm>
          <a:prstGeom prst="rect">
            <a:avLst/>
          </a:prstGeom>
          <a:noFill/>
          <a:ln/>
        </p:spPr>
        <p:txBody>
          <a:bodyPr wrap="square"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LLMs &amp; AI</a:t>
            </a:r>
            <a:endParaRPr lang="en-US" sz="1600" dirty="0"/>
          </a:p>
          <a:p>
            <a:pPr indent="0" marL="0">
              <a:buNone/>
            </a:pPr>
            <a:r>
              <a:rPr lang="en-US" sz="1600" b="1" dirty="0">
                <a:solidFill>
                  <a:srgbClr val="0F172A"/>
                </a:solidFill>
                <a:latin typeface="Georgia" pitchFamily="34" charset="0"/>
                <a:ea typeface="Georgia" pitchFamily="34" charset="-122"/>
                <a:cs typeface="Georgia" pitchFamily="34" charset="-120"/>
              </a:rPr>
              <a:t>Tools</a:t>
            </a:r>
            <a:endParaRPr lang="en-US" sz="1600" dirty="0"/>
          </a:p>
        </p:txBody>
      </p:sp>
      <p:sp>
        <p:nvSpPr>
          <p:cNvPr id="20" name="Text 16"/>
          <p:cNvSpPr/>
          <p:nvPr/>
        </p:nvSpPr>
        <p:spPr>
          <a:xfrm>
            <a:off x="3520440" y="3337560"/>
            <a:ext cx="2148840" cy="10058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Prompt engineering, Cursor, Claude Code, RAG, vector databases &amp; MCP</a:t>
            </a:r>
            <a:endParaRPr lang="en-US" sz="1100" dirty="0"/>
          </a:p>
        </p:txBody>
      </p:sp>
      <p:sp>
        <p:nvSpPr>
          <p:cNvPr id="21" name="Shape 17"/>
          <p:cNvSpPr/>
          <p:nvPr/>
        </p:nvSpPr>
        <p:spPr>
          <a:xfrm>
            <a:off x="6126480" y="1554480"/>
            <a:ext cx="2606040" cy="301752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22" name="Shape 18"/>
          <p:cNvSpPr/>
          <p:nvPr/>
        </p:nvSpPr>
        <p:spPr>
          <a:xfrm>
            <a:off x="6126480" y="1554480"/>
            <a:ext cx="2606040" cy="54864"/>
          </a:xfrm>
          <a:prstGeom prst="rectangle">
            <a:avLst/>
          </a:prstGeom>
          <a:solidFill>
            <a:srgbClr val="10B981"/>
          </a:solidFill>
          <a:ln/>
        </p:spPr>
      </p:sp>
      <p:sp>
        <p:nvSpPr>
          <p:cNvPr id="23" name="Text 19"/>
          <p:cNvSpPr/>
          <p:nvPr/>
        </p:nvSpPr>
        <p:spPr>
          <a:xfrm>
            <a:off x="6355080" y="1783080"/>
            <a:ext cx="2148840" cy="274320"/>
          </a:xfrm>
          <a:prstGeom prst="rect">
            <a:avLst/>
          </a:prstGeom>
          <a:noFill/>
          <a:ln/>
        </p:spPr>
        <p:txBody>
          <a:bodyPr wrap="square"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PHASE</a:t>
            </a:r>
            <a:endParaRPr lang="en-US" sz="1000" dirty="0"/>
          </a:p>
        </p:txBody>
      </p:sp>
      <p:sp>
        <p:nvSpPr>
          <p:cNvPr id="24" name="Text 20"/>
          <p:cNvSpPr/>
          <p:nvPr/>
        </p:nvSpPr>
        <p:spPr>
          <a:xfrm>
            <a:off x="6355080" y="1965960"/>
            <a:ext cx="2148840" cy="548640"/>
          </a:xfrm>
          <a:prstGeom prst="rect">
            <a:avLst/>
          </a:prstGeom>
          <a:noFill/>
          <a:ln/>
        </p:spPr>
        <p:txBody>
          <a:bodyPr wrap="square" rtlCol="0" anchor="ctr"/>
          <a:lstStyle/>
          <a:p>
            <a:pPr indent="0" marL="0">
              <a:buNone/>
            </a:pPr>
            <a:r>
              <a:rPr lang="en-US" sz="3600" b="1" dirty="0">
                <a:solidFill>
                  <a:srgbClr val="10B981"/>
                </a:solidFill>
                <a:latin typeface="Georgia" pitchFamily="34" charset="0"/>
                <a:ea typeface="Georgia" pitchFamily="34" charset="-122"/>
                <a:cs typeface="Georgia" pitchFamily="34" charset="-120"/>
              </a:rPr>
              <a:t>03</a:t>
            </a:r>
            <a:endParaRPr lang="en-US" sz="3600" dirty="0"/>
          </a:p>
        </p:txBody>
      </p:sp>
      <p:pic>
        <p:nvPicPr>
          <p:cNvPr id="25" name="Image 2" descr="preencoded.png"/>
          <p:cNvPicPr>
            <a:picLocks noChangeAspect="1"/>
          </p:cNvPicPr>
          <p:nvPr/>
        </p:nvPicPr>
        <p:blipFill>
          <a:blip r:embed="rId3"/>
          <a:stretch>
            <a:fillRect/>
          </a:stretch>
        </p:blipFill>
        <p:spPr>
          <a:xfrm>
            <a:off x="7909560" y="1920240"/>
            <a:ext cx="548640" cy="548640"/>
          </a:xfrm>
          <a:prstGeom prst="rect">
            <a:avLst/>
          </a:prstGeom>
        </p:spPr>
      </p:pic>
      <p:sp>
        <p:nvSpPr>
          <p:cNvPr id="26" name="Text 21"/>
          <p:cNvSpPr/>
          <p:nvPr/>
        </p:nvSpPr>
        <p:spPr>
          <a:xfrm>
            <a:off x="6355080" y="2606040"/>
            <a:ext cx="2148840" cy="731520"/>
          </a:xfrm>
          <a:prstGeom prst="rect">
            <a:avLst/>
          </a:prstGeom>
          <a:noFill/>
          <a:ln/>
        </p:spPr>
        <p:txBody>
          <a:bodyPr wrap="square"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Agentic SDTM</a:t>
            </a:r>
            <a:endParaRPr lang="en-US" sz="1600" dirty="0"/>
          </a:p>
          <a:p>
            <a:pPr indent="0" marL="0">
              <a:buNone/>
            </a:pPr>
            <a:r>
              <a:rPr lang="en-US" sz="1600" b="1" dirty="0">
                <a:solidFill>
                  <a:srgbClr val="0F172A"/>
                </a:solidFill>
                <a:latin typeface="Georgia" pitchFamily="34" charset="0"/>
                <a:ea typeface="Georgia" pitchFamily="34" charset="-122"/>
                <a:cs typeface="Georgia" pitchFamily="34" charset="-120"/>
              </a:rPr>
              <a:t>Automation</a:t>
            </a:r>
            <a:endParaRPr lang="en-US" sz="1600" dirty="0"/>
          </a:p>
        </p:txBody>
      </p:sp>
      <p:sp>
        <p:nvSpPr>
          <p:cNvPr id="27" name="Text 22"/>
          <p:cNvSpPr/>
          <p:nvPr/>
        </p:nvSpPr>
        <p:spPr>
          <a:xfrm>
            <a:off x="6355080" y="3337560"/>
            <a:ext cx="2148840" cy="10058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Multi-agent pipeline: spec building, double programming, validation</a:t>
            </a:r>
            <a:endParaRPr lang="en-US" sz="1100" dirty="0"/>
          </a:p>
        </p:txBody>
      </p:sp>
      <p:pic>
        <p:nvPicPr>
          <p:cNvPr id="28" name="Image 3" descr="preencoded.png"/>
          <p:cNvPicPr>
            <a:picLocks noChangeAspect="1"/>
          </p:cNvPicPr>
          <p:nvPr/>
        </p:nvPicPr>
        <p:blipFill>
          <a:blip r:embed="rId4"/>
          <a:stretch>
            <a:fillRect/>
          </a:stretch>
        </p:blipFill>
        <p:spPr>
          <a:xfrm>
            <a:off x="2926080" y="2743200"/>
            <a:ext cx="320040" cy="320040"/>
          </a:xfrm>
          <a:prstGeom prst="rect">
            <a:avLst/>
          </a:prstGeom>
        </p:spPr>
      </p:pic>
      <p:pic>
        <p:nvPicPr>
          <p:cNvPr id="29" name="Image 4" descr="preencoded.png"/>
          <p:cNvPicPr>
            <a:picLocks noChangeAspect="1"/>
          </p:cNvPicPr>
          <p:nvPr/>
        </p:nvPicPr>
        <p:blipFill>
          <a:blip r:embed="rId5"/>
          <a:stretch>
            <a:fillRect/>
          </a:stretch>
        </p:blipFill>
        <p:spPr>
          <a:xfrm>
            <a:off x="5760720" y="2743200"/>
            <a:ext cx="320040" cy="3200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angle">
            <a:avLst/>
          </a:prstGeom>
          <a:solidFill>
            <a:srgbClr val="0891B2"/>
          </a:solidFill>
          <a:ln/>
        </p:spPr>
      </p:sp>
      <p:sp>
        <p:nvSpPr>
          <p:cNvPr id="3" name="Text 1"/>
          <p:cNvSpPr/>
          <p:nvPr/>
        </p:nvSpPr>
        <p:spPr>
          <a:xfrm>
            <a:off x="640080" y="1280160"/>
            <a:ext cx="7315200" cy="548640"/>
          </a:xfrm>
          <a:prstGeom prst="rect">
            <a:avLst/>
          </a:prstGeom>
          <a:noFill/>
          <a:ln/>
        </p:spPr>
        <p:txBody>
          <a:bodyPr wrap="square" rtlCol="0" anchor="ctr"/>
          <a:lstStyle/>
          <a:p>
            <a:pPr indent="0" marL="0">
              <a:buNone/>
            </a:pPr>
            <a:r>
              <a:rPr lang="en-US" sz="1600" b="1" spc="600" kern="0" dirty="0">
                <a:solidFill>
                  <a:srgbClr val="06B6D4"/>
                </a:solidFill>
                <a:latin typeface="Calibri" pitchFamily="34" charset="0"/>
                <a:ea typeface="Calibri" pitchFamily="34" charset="-122"/>
                <a:cs typeface="Calibri" pitchFamily="34" charset="-120"/>
              </a:rPr>
              <a:t>PHASE 1</a:t>
            </a:r>
            <a:endParaRPr lang="en-US" sz="1600" dirty="0"/>
          </a:p>
        </p:txBody>
      </p:sp>
      <p:sp>
        <p:nvSpPr>
          <p:cNvPr id="4" name="Text 2"/>
          <p:cNvSpPr/>
          <p:nvPr/>
        </p:nvSpPr>
        <p:spPr>
          <a:xfrm>
            <a:off x="640080" y="1828800"/>
            <a:ext cx="7772400" cy="91440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AI/ML Foundations</a:t>
            </a:r>
            <a:endParaRPr lang="en-US" sz="4000" dirty="0"/>
          </a:p>
        </p:txBody>
      </p:sp>
      <p:sp>
        <p:nvSpPr>
          <p:cNvPr id="5" name="Text 3"/>
          <p:cNvSpPr/>
          <p:nvPr/>
        </p:nvSpPr>
        <p:spPr>
          <a:xfrm>
            <a:off x="640080" y="2834640"/>
            <a:ext cx="7315200" cy="73152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Build intuition for what models are, how they learn, and how to evaluate them</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1828800" cy="320040"/>
          </a:xfrm>
          <a:prstGeom prst="rect">
            <a:avLst/>
          </a:prstGeom>
          <a:noFill/>
          <a:ln/>
        </p:spPr>
        <p:txBody>
          <a:bodyPr wrap="square"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Module 1.1</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What Is a Model?</a:t>
            </a:r>
            <a:endParaRPr lang="en-US" sz="3000" dirty="0"/>
          </a:p>
        </p:txBody>
      </p:sp>
      <p:sp>
        <p:nvSpPr>
          <p:cNvPr id="4" name="Shape 2"/>
          <p:cNvSpPr/>
          <p:nvPr/>
        </p:nvSpPr>
        <p:spPr>
          <a:xfrm>
            <a:off x="0" y="4892040"/>
            <a:ext cx="9144000" cy="251460"/>
          </a:xfrm>
          <a:prstGeom prst="rectangle">
            <a:avLst/>
          </a:prstGeom>
          <a:solidFill>
            <a:srgbClr val="0F172A"/>
          </a:solidFill>
          <a:ln/>
        </p:spPr>
      </p:sp>
      <p:sp>
        <p:nvSpPr>
          <p:cNvPr id="5" name="Text 3"/>
          <p:cNvSpPr/>
          <p:nvPr/>
        </p:nvSpPr>
        <p:spPr>
          <a:xfrm>
            <a:off x="457200" y="4892040"/>
            <a:ext cx="8229600" cy="25146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AI for Clinical SAS Programmers  |  Training Program 2026</a:t>
            </a:r>
            <a:endParaRPr lang="en-US" sz="800" dirty="0"/>
          </a:p>
        </p:txBody>
      </p:sp>
      <p:sp>
        <p:nvSpPr>
          <p:cNvPr id="6" name="Text 4"/>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 / 22</a:t>
            </a:r>
            <a:endParaRPr lang="en-US" sz="900" dirty="0"/>
          </a:p>
        </p:txBody>
      </p:sp>
      <p:sp>
        <p:nvSpPr>
          <p:cNvPr id="7" name="Shape 5"/>
          <p:cNvSpPr/>
          <p:nvPr/>
        </p:nvSpPr>
        <p:spPr>
          <a:xfrm>
            <a:off x="457200" y="1371600"/>
            <a:ext cx="3931920" cy="320040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8" name="Shape 6"/>
          <p:cNvSpPr/>
          <p:nvPr/>
        </p:nvSpPr>
        <p:spPr>
          <a:xfrm>
            <a:off x="457200" y="1371600"/>
            <a:ext cx="64008" cy="3200400"/>
          </a:xfrm>
          <a:prstGeom prst="rectangle">
            <a:avLst/>
          </a:prstGeom>
          <a:solidFill>
            <a:srgbClr val="0891B2"/>
          </a:solidFill>
          <a:ln/>
        </p:spPr>
      </p:sp>
      <p:sp>
        <p:nvSpPr>
          <p:cNvPr id="9" name="Text 7"/>
          <p:cNvSpPr/>
          <p:nvPr/>
        </p:nvSpPr>
        <p:spPr>
          <a:xfrm>
            <a:off x="731520" y="1508760"/>
            <a:ext cx="3474720" cy="365760"/>
          </a:xfrm>
          <a:prstGeom prst="rect">
            <a:avLst/>
          </a:prstGeom>
          <a:noFill/>
          <a:ln/>
        </p:spPr>
        <p:txBody>
          <a:bodyPr wrap="square"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Logistic Regression</a:t>
            </a:r>
            <a:endParaRPr lang="en-US" sz="1600" dirty="0"/>
          </a:p>
        </p:txBody>
      </p:sp>
      <p:sp>
        <p:nvSpPr>
          <p:cNvPr id="10" name="Text 8"/>
          <p:cNvSpPr/>
          <p:nvPr/>
        </p:nvSpPr>
        <p:spPr>
          <a:xfrm>
            <a:off x="731520" y="1828800"/>
            <a:ext cx="3474720" cy="27432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Starting with what SAS programmers know best</a:t>
            </a:r>
            <a:endParaRPr lang="en-US" sz="1100" dirty="0"/>
          </a:p>
        </p:txBody>
      </p:sp>
      <p:sp>
        <p:nvSpPr>
          <p:cNvPr id="11" name="Text 9"/>
          <p:cNvSpPr/>
          <p:nvPr/>
        </p:nvSpPr>
        <p:spPr>
          <a:xfrm>
            <a:off x="731520" y="2194560"/>
            <a:ext cx="3474720" cy="2194560"/>
          </a:xfrm>
          <a:prstGeom prst="rect">
            <a:avLst/>
          </a:prstGeom>
          <a:noFill/>
          <a:ln/>
        </p:spPr>
        <p:txBody>
          <a:bodyPr wrap="square" rtlCol="0" anchor="ctr"/>
          <a:lstStyle/>
          <a:p>
            <a:pPr indent="0" marL="0">
              <a:spcAft>
                <a:spcPts val="400"/>
              </a:spcAft>
              <a:buNone/>
            </a:pPr>
            <a:r>
              <a:rPr lang="en-US" sz="1200" dirty="0">
                <a:solidFill>
                  <a:srgbClr val="1E293B"/>
                </a:solidFill>
                <a:latin typeface="Calibri" pitchFamily="34" charset="0"/>
                <a:ea typeface="Calibri" pitchFamily="34" charset="-122"/>
                <a:cs typeface="Calibri" pitchFamily="34" charset="-120"/>
              </a:rPr>
              <a:t>Use a practical banking dataset to predict loan defaults with </a:t>
            </a:r>
            <a:pPr indent="0" marL="0">
              <a:spcAft>
                <a:spcPts val="400"/>
              </a:spcAft>
              <a:buNone/>
            </a:pPr>
            <a:r>
              <a:rPr lang="en-US" sz="1100" b="1" dirty="0">
                <a:solidFill>
                  <a:srgbClr val="1E293B"/>
                </a:solidFill>
                <a:latin typeface="Consolas" pitchFamily="34" charset="0"/>
                <a:ea typeface="Consolas" pitchFamily="34" charset="-122"/>
                <a:cs typeface="Consolas" pitchFamily="34" charset="-120"/>
              </a:rPr>
              <a:t>PROC LOGISTIC</a:t>
            </a:r>
            <a:endParaRPr lang="en-US" sz="1200" dirty="0"/>
          </a:p>
          <a:p>
            <a:pPr indent="0" marL="0">
              <a:spcAft>
                <a:spcPts val="400"/>
              </a:spcAft>
              <a:buNone/>
            </a:pP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Train/test split methodology</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Scoring new observations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Confusion matrix interpretation</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Accuracy, precision, recall, F1-score</a:t>
            </a:r>
            <a:endParaRPr lang="en-US" sz="1200" dirty="0"/>
          </a:p>
        </p:txBody>
      </p:sp>
      <p:sp>
        <p:nvSpPr>
          <p:cNvPr id="12" name="Shape 10"/>
          <p:cNvSpPr/>
          <p:nvPr/>
        </p:nvSpPr>
        <p:spPr>
          <a:xfrm>
            <a:off x="4709160" y="1371600"/>
            <a:ext cx="3977640" cy="320040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4709160" y="1371600"/>
            <a:ext cx="64008" cy="3200400"/>
          </a:xfrm>
          <a:prstGeom prst="rectangle">
            <a:avLst/>
          </a:prstGeom>
          <a:solidFill>
            <a:srgbClr val="F59E0B"/>
          </a:solidFill>
          <a:ln/>
        </p:spPr>
      </p:sp>
      <p:sp>
        <p:nvSpPr>
          <p:cNvPr id="14" name="Text 12"/>
          <p:cNvSpPr/>
          <p:nvPr/>
        </p:nvSpPr>
        <p:spPr>
          <a:xfrm>
            <a:off x="4983480" y="1508760"/>
            <a:ext cx="3474720" cy="365760"/>
          </a:xfrm>
          <a:prstGeom prst="rect">
            <a:avLst/>
          </a:prstGeom>
          <a:noFill/>
          <a:ln/>
        </p:spPr>
        <p:txBody>
          <a:bodyPr wrap="square"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The Learning Cycle</a:t>
            </a:r>
            <a:endParaRPr lang="en-US" sz="1600" dirty="0"/>
          </a:p>
        </p:txBody>
      </p:sp>
      <p:sp>
        <p:nvSpPr>
          <p:cNvPr id="15" name="Shape 13"/>
          <p:cNvSpPr/>
          <p:nvPr/>
        </p:nvSpPr>
        <p:spPr>
          <a:xfrm>
            <a:off x="5074920" y="2057400"/>
            <a:ext cx="365760" cy="365760"/>
          </a:xfrm>
          <a:prstGeom prst="oval">
            <a:avLst/>
          </a:prstGeom>
          <a:solidFill>
            <a:srgbClr val="0891B2"/>
          </a:solidFill>
          <a:ln/>
        </p:spPr>
      </p:sp>
      <p:sp>
        <p:nvSpPr>
          <p:cNvPr id="16" name="Text 14"/>
          <p:cNvSpPr/>
          <p:nvPr/>
        </p:nvSpPr>
        <p:spPr>
          <a:xfrm>
            <a:off x="5074920" y="205740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7" name="Text 15"/>
          <p:cNvSpPr/>
          <p:nvPr/>
        </p:nvSpPr>
        <p:spPr>
          <a:xfrm>
            <a:off x="5577840" y="2057400"/>
            <a:ext cx="2743200" cy="36576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Data In</a:t>
            </a:r>
            <a:endParaRPr lang="en-US" sz="1400" dirty="0"/>
          </a:p>
        </p:txBody>
      </p:sp>
      <p:sp>
        <p:nvSpPr>
          <p:cNvPr id="18" name="Shape 16"/>
          <p:cNvSpPr/>
          <p:nvPr/>
        </p:nvSpPr>
        <p:spPr>
          <a:xfrm>
            <a:off x="5074920" y="2697480"/>
            <a:ext cx="365760" cy="365760"/>
          </a:xfrm>
          <a:prstGeom prst="oval">
            <a:avLst/>
          </a:prstGeom>
          <a:solidFill>
            <a:srgbClr val="06B6D4"/>
          </a:solidFill>
          <a:ln/>
        </p:spPr>
      </p:sp>
      <p:sp>
        <p:nvSpPr>
          <p:cNvPr id="19" name="Text 17"/>
          <p:cNvSpPr/>
          <p:nvPr/>
        </p:nvSpPr>
        <p:spPr>
          <a:xfrm>
            <a:off x="5074920" y="269748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0" name="Text 18"/>
          <p:cNvSpPr/>
          <p:nvPr/>
        </p:nvSpPr>
        <p:spPr>
          <a:xfrm>
            <a:off x="5577840" y="2697480"/>
            <a:ext cx="2743200" cy="36576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Model Learns</a:t>
            </a:r>
            <a:endParaRPr lang="en-US" sz="1400" dirty="0"/>
          </a:p>
        </p:txBody>
      </p:sp>
      <p:sp>
        <p:nvSpPr>
          <p:cNvPr id="21" name="Shape 19"/>
          <p:cNvSpPr/>
          <p:nvPr/>
        </p:nvSpPr>
        <p:spPr>
          <a:xfrm>
            <a:off x="5074920" y="3337560"/>
            <a:ext cx="365760" cy="365760"/>
          </a:xfrm>
          <a:prstGeom prst="oval">
            <a:avLst/>
          </a:prstGeom>
          <a:solidFill>
            <a:srgbClr val="10B981"/>
          </a:solidFill>
          <a:ln/>
        </p:spPr>
      </p:sp>
      <p:sp>
        <p:nvSpPr>
          <p:cNvPr id="22" name="Text 20"/>
          <p:cNvSpPr/>
          <p:nvPr/>
        </p:nvSpPr>
        <p:spPr>
          <a:xfrm>
            <a:off x="5074920" y="333756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1"/>
          <p:cNvSpPr/>
          <p:nvPr/>
        </p:nvSpPr>
        <p:spPr>
          <a:xfrm>
            <a:off x="5577840" y="3337560"/>
            <a:ext cx="2743200" cy="36576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Predictions Out</a:t>
            </a:r>
            <a:endParaRPr lang="en-US" sz="1400" dirty="0"/>
          </a:p>
        </p:txBody>
      </p:sp>
      <p:sp>
        <p:nvSpPr>
          <p:cNvPr id="24" name="Shape 22"/>
          <p:cNvSpPr/>
          <p:nvPr/>
        </p:nvSpPr>
        <p:spPr>
          <a:xfrm>
            <a:off x="5074920" y="3977640"/>
            <a:ext cx="365760" cy="365760"/>
          </a:xfrm>
          <a:prstGeom prst="oval">
            <a:avLst/>
          </a:prstGeom>
          <a:solidFill>
            <a:srgbClr val="F59E0B"/>
          </a:solidFill>
          <a:ln/>
        </p:spPr>
      </p:sp>
      <p:sp>
        <p:nvSpPr>
          <p:cNvPr id="25" name="Text 23"/>
          <p:cNvSpPr/>
          <p:nvPr/>
        </p:nvSpPr>
        <p:spPr>
          <a:xfrm>
            <a:off x="5074920" y="397764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4"/>
          <p:cNvSpPr/>
          <p:nvPr/>
        </p:nvSpPr>
        <p:spPr>
          <a:xfrm>
            <a:off x="5577840" y="3977640"/>
            <a:ext cx="2743200" cy="36576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Evaluate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1828800" cy="320040"/>
          </a:xfrm>
          <a:prstGeom prst="rect">
            <a:avLst/>
          </a:prstGeom>
          <a:noFill/>
          <a:ln/>
        </p:spPr>
        <p:txBody>
          <a:bodyPr wrap="square"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Module 1.1</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Understanding the Confusion Matrix</a:t>
            </a:r>
            <a:endParaRPr lang="en-US" sz="2800" dirty="0"/>
          </a:p>
        </p:txBody>
      </p:sp>
      <p:sp>
        <p:nvSpPr>
          <p:cNvPr id="4" name="Shape 2"/>
          <p:cNvSpPr/>
          <p:nvPr/>
        </p:nvSpPr>
        <p:spPr>
          <a:xfrm>
            <a:off x="0" y="4892040"/>
            <a:ext cx="9144000" cy="251460"/>
          </a:xfrm>
          <a:prstGeom prst="rectangle">
            <a:avLst/>
          </a:prstGeom>
          <a:solidFill>
            <a:srgbClr val="0F172A"/>
          </a:solidFill>
          <a:ln/>
        </p:spPr>
      </p:sp>
      <p:sp>
        <p:nvSpPr>
          <p:cNvPr id="5" name="Text 3"/>
          <p:cNvSpPr/>
          <p:nvPr/>
        </p:nvSpPr>
        <p:spPr>
          <a:xfrm>
            <a:off x="457200" y="4892040"/>
            <a:ext cx="8229600" cy="25146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AI for Clinical SAS Programmers  |  Training Program 2026</a:t>
            </a:r>
            <a:endParaRPr lang="en-US" sz="800" dirty="0"/>
          </a:p>
        </p:txBody>
      </p:sp>
      <p:sp>
        <p:nvSpPr>
          <p:cNvPr id="6" name="Text 4"/>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 / 22</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4114800" cy="2560320"/>
        </p:xfrm>
        <a:graphic>
          <a:graphicData uri="http://schemas.openxmlformats.org/drawingml/2006/table">
            <a:tbl>
              <a:tblPr/>
              <a:tblGrid>
                <a:gridCol w="1371600"/>
                <a:gridCol w="1371600"/>
                <a:gridCol w="1371600"/>
              </a:tblGrid>
              <a:tr h="640080">
                <a:tc>
                  <a:txBody>
                    <a:bodyPr/>
                    <a:lstStyle/>
                    <a:p>
                      <a:pPr indent="0" marL="0">
                        <a:buNone/>
                      </a:pP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891B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Predicted:</a:t>
                      </a:r>
                      <a:endParaRPr lang="en-US" sz="1200" dirty="0">
                        <a:latin typeface="Calibri" charset="0"/>
                        <a:ea typeface="Calibri" charset="0"/>
                        <a:cs typeface="Calibri" charset="0"/>
                      </a:endParaRPr>
                    </a:p>
                    <a:p>
                      <a:pPr algn="ctr" indent="0" marL="0">
                        <a:buNone/>
                      </a:pPr>
                      <a:r>
                        <a:rPr lang="en-US" sz="1200" b="1" dirty="0">
                          <a:solidFill>
                            <a:srgbClr val="FFFFFF"/>
                          </a:solidFill>
                          <a:latin typeface="Calibri" pitchFamily="34" charset="0"/>
                          <a:ea typeface="Calibri" pitchFamily="34" charset="-122"/>
                          <a:cs typeface="Calibri" pitchFamily="34" charset="-120"/>
                        </a:rPr>
                        <a:t>Good Loan</a:t>
                      </a:r>
                      <a:endParaRPr lang="en-US" sz="12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891B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Predicted:</a:t>
                      </a:r>
                      <a:endParaRPr lang="en-US" sz="1200" dirty="0">
                        <a:latin typeface="Calibri" charset="0"/>
                        <a:ea typeface="Calibri" charset="0"/>
                        <a:cs typeface="Calibri" charset="0"/>
                      </a:endParaRPr>
                    </a:p>
                    <a:p>
                      <a:pPr algn="ctr" indent="0" marL="0">
                        <a:buNone/>
                      </a:pPr>
                      <a:r>
                        <a:rPr lang="en-US" sz="1200" b="1" dirty="0">
                          <a:solidFill>
                            <a:srgbClr val="FFFFFF"/>
                          </a:solidFill>
                          <a:latin typeface="Calibri" pitchFamily="34" charset="0"/>
                          <a:ea typeface="Calibri" pitchFamily="34" charset="-122"/>
                          <a:cs typeface="Calibri" pitchFamily="34" charset="-120"/>
                        </a:rPr>
                        <a:t>Bad Loan</a:t>
                      </a:r>
                      <a:endParaRPr lang="en-US" sz="12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891B2"/>
                    </a:solidFill>
                  </a:tcPr>
                </a:tc>
              </a:tr>
              <a:tr h="9601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Actual:</a:t>
                      </a:r>
                      <a:endParaRPr lang="en-US" sz="1200" dirty="0">
                        <a:latin typeface="Calibri" charset="0"/>
                        <a:ea typeface="Calibri" charset="0"/>
                        <a:cs typeface="Calibri" charset="0"/>
                      </a:endParaRPr>
                    </a:p>
                    <a:p>
                      <a:pPr algn="ctr" indent="0" marL="0">
                        <a:buNone/>
                      </a:pPr>
                      <a:r>
                        <a:rPr lang="en-US" sz="1200" b="1" dirty="0">
                          <a:solidFill>
                            <a:srgbClr val="FFFFFF"/>
                          </a:solidFill>
                          <a:latin typeface="Calibri" pitchFamily="34" charset="0"/>
                          <a:ea typeface="Calibri" pitchFamily="34" charset="-122"/>
                          <a:cs typeface="Calibri" pitchFamily="34" charset="-120"/>
                        </a:rPr>
                        <a:t>Good Loan</a:t>
                      </a:r>
                      <a:endParaRPr lang="en-US" sz="12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891B2"/>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True Negative</a:t>
                      </a:r>
                      <a:endParaRPr lang="en-US" sz="1200" dirty="0">
                        <a:latin typeface="Calibri" charset="0"/>
                        <a:ea typeface="Calibri" charset="0"/>
                        <a:cs typeface="Calibri" charset="0"/>
                      </a:endParaRPr>
                    </a:p>
                    <a:p>
                      <a:pPr algn="ctr" indent="0" marL="0">
                        <a:buNone/>
                      </a:pPr>
                      <a:r>
                        <a:rPr lang="en-US" sz="1200" dirty="0">
                          <a:solidFill>
                            <a:srgbClr val="1E293B"/>
                          </a:solidFill>
                          <a:latin typeface="Calibri" pitchFamily="34" charset="0"/>
                          <a:ea typeface="Calibri" pitchFamily="34" charset="-122"/>
                          <a:cs typeface="Calibri" pitchFamily="34" charset="-120"/>
                        </a:rPr>
                        <a:t>(TN) = 180</a:t>
                      </a:r>
                      <a:endParaRPr lang="en-US" sz="12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1FAE5"/>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False Positive</a:t>
                      </a:r>
                      <a:endParaRPr lang="en-US" sz="1200" dirty="0">
                        <a:latin typeface="Calibri" charset="0"/>
                        <a:ea typeface="Calibri" charset="0"/>
                        <a:cs typeface="Calibri" charset="0"/>
                      </a:endParaRPr>
                    </a:p>
                    <a:p>
                      <a:pPr algn="ctr" indent="0" marL="0">
                        <a:buNone/>
                      </a:pPr>
                      <a:r>
                        <a:rPr lang="en-US" sz="1200" dirty="0">
                          <a:solidFill>
                            <a:srgbClr val="1E293B"/>
                          </a:solidFill>
                          <a:latin typeface="Calibri" pitchFamily="34" charset="0"/>
                          <a:ea typeface="Calibri" pitchFamily="34" charset="-122"/>
                          <a:cs typeface="Calibri" pitchFamily="34" charset="-120"/>
                        </a:rPr>
                        <a:t>(FP) = 20</a:t>
                      </a:r>
                      <a:endParaRPr lang="en-US" sz="12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EF3C7"/>
                    </a:solidFill>
                  </a:tcPr>
                </a:tc>
              </a:tr>
              <a:tr h="9601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Actual:</a:t>
                      </a:r>
                      <a:endParaRPr lang="en-US" sz="1200" dirty="0">
                        <a:latin typeface="Calibri" charset="0"/>
                        <a:ea typeface="Calibri" charset="0"/>
                        <a:cs typeface="Calibri" charset="0"/>
                      </a:endParaRPr>
                    </a:p>
                    <a:p>
                      <a:pPr algn="ctr" indent="0" marL="0">
                        <a:buNone/>
                      </a:pPr>
                      <a:r>
                        <a:rPr lang="en-US" sz="1200" b="1" dirty="0">
                          <a:solidFill>
                            <a:srgbClr val="FFFFFF"/>
                          </a:solidFill>
                          <a:latin typeface="Calibri" pitchFamily="34" charset="0"/>
                          <a:ea typeface="Calibri" pitchFamily="34" charset="-122"/>
                          <a:cs typeface="Calibri" pitchFamily="34" charset="-120"/>
                        </a:rPr>
                        <a:t>Bad Loan</a:t>
                      </a:r>
                      <a:endParaRPr lang="en-US" sz="12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891B2"/>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False Negative</a:t>
                      </a:r>
                      <a:endParaRPr lang="en-US" sz="1200" dirty="0">
                        <a:latin typeface="Calibri" charset="0"/>
                        <a:ea typeface="Calibri" charset="0"/>
                        <a:cs typeface="Calibri" charset="0"/>
                      </a:endParaRPr>
                    </a:p>
                    <a:p>
                      <a:pPr algn="ctr" indent="0" marL="0">
                        <a:buNone/>
                      </a:pPr>
                      <a:r>
                        <a:rPr lang="en-US" sz="1200" dirty="0">
                          <a:solidFill>
                            <a:srgbClr val="1E293B"/>
                          </a:solidFill>
                          <a:latin typeface="Calibri" pitchFamily="34" charset="0"/>
                          <a:ea typeface="Calibri" pitchFamily="34" charset="-122"/>
                          <a:cs typeface="Calibri" pitchFamily="34" charset="-120"/>
                        </a:rPr>
                        <a:t>(FN) = 15</a:t>
                      </a:r>
                      <a:endParaRPr lang="en-US" sz="12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EE2E2"/>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True Positive</a:t>
                      </a:r>
                      <a:endParaRPr lang="en-US" sz="1200" dirty="0">
                        <a:latin typeface="Calibri" charset="0"/>
                        <a:ea typeface="Calibri" charset="0"/>
                        <a:cs typeface="Calibri" charset="0"/>
                      </a:endParaRPr>
                    </a:p>
                    <a:p>
                      <a:pPr algn="ctr" indent="0" marL="0">
                        <a:buNone/>
                      </a:pPr>
                      <a:r>
                        <a:rPr lang="en-US" sz="1200" dirty="0">
                          <a:solidFill>
                            <a:srgbClr val="1E293B"/>
                          </a:solidFill>
                          <a:latin typeface="Calibri" pitchFamily="34" charset="0"/>
                          <a:ea typeface="Calibri" pitchFamily="34" charset="-122"/>
                          <a:cs typeface="Calibri" pitchFamily="34" charset="-120"/>
                        </a:rPr>
                        <a:t>(TP) = 85</a:t>
                      </a:r>
                      <a:endParaRPr lang="en-US" sz="12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1FAE5"/>
                    </a:solidFill>
                  </a:tcPr>
                </a:tc>
              </a:tr>
            </a:tbl>
          </a:graphicData>
        </a:graphic>
      </p:graphicFrame>
      <p:sp>
        <p:nvSpPr>
          <p:cNvPr id="8" name="Shape 5"/>
          <p:cNvSpPr/>
          <p:nvPr/>
        </p:nvSpPr>
        <p:spPr>
          <a:xfrm>
            <a:off x="4892040" y="1371600"/>
            <a:ext cx="3794760" cy="256032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9" name="Shape 6"/>
          <p:cNvSpPr/>
          <p:nvPr/>
        </p:nvSpPr>
        <p:spPr>
          <a:xfrm>
            <a:off x="4892040" y="1371600"/>
            <a:ext cx="64008" cy="2560320"/>
          </a:xfrm>
          <a:prstGeom prst="rectangle">
            <a:avLst/>
          </a:prstGeom>
          <a:solidFill>
            <a:srgbClr val="10B981"/>
          </a:solidFill>
          <a:ln/>
        </p:spPr>
      </p:sp>
      <p:sp>
        <p:nvSpPr>
          <p:cNvPr id="10" name="Text 7"/>
          <p:cNvSpPr/>
          <p:nvPr/>
        </p:nvSpPr>
        <p:spPr>
          <a:xfrm>
            <a:off x="5166360" y="1463040"/>
            <a:ext cx="3291840" cy="365760"/>
          </a:xfrm>
          <a:prstGeom prst="rect">
            <a:avLst/>
          </a:prstGeom>
          <a:noFill/>
          <a:ln/>
        </p:spPr>
        <p:txBody>
          <a:bodyPr wrap="square"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Key Metrics</a:t>
            </a:r>
            <a:endParaRPr lang="en-US" sz="1600" dirty="0"/>
          </a:p>
        </p:txBody>
      </p:sp>
      <p:sp>
        <p:nvSpPr>
          <p:cNvPr id="11" name="Text 8"/>
          <p:cNvSpPr/>
          <p:nvPr/>
        </p:nvSpPr>
        <p:spPr>
          <a:xfrm>
            <a:off x="5166360" y="1920240"/>
            <a:ext cx="1463040" cy="320040"/>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Accuracy</a:t>
            </a:r>
            <a:endParaRPr lang="en-US" sz="1200" dirty="0"/>
          </a:p>
        </p:txBody>
      </p:sp>
      <p:sp>
        <p:nvSpPr>
          <p:cNvPr id="12" name="Text 9"/>
          <p:cNvSpPr/>
          <p:nvPr/>
        </p:nvSpPr>
        <p:spPr>
          <a:xfrm>
            <a:off x="6492240" y="1920240"/>
            <a:ext cx="731520" cy="320040"/>
          </a:xfrm>
          <a:prstGeom prst="rect">
            <a:avLst/>
          </a:prstGeom>
          <a:noFill/>
          <a:ln/>
        </p:spPr>
        <p:txBody>
          <a:bodyPr wrap="square" rtlCol="0" anchor="ctr"/>
          <a:lstStyle/>
          <a:p>
            <a:pPr algn="ctr" indent="0" marL="0">
              <a:buNone/>
            </a:pPr>
            <a:r>
              <a:rPr lang="en-US" sz="1400" b="1" dirty="0">
                <a:solidFill>
                  <a:srgbClr val="0891B2"/>
                </a:solidFill>
                <a:latin typeface="Calibri" pitchFamily="34" charset="0"/>
                <a:ea typeface="Calibri" pitchFamily="34" charset="-122"/>
                <a:cs typeface="Calibri" pitchFamily="34" charset="-120"/>
              </a:rPr>
              <a:t>88.3%</a:t>
            </a:r>
            <a:endParaRPr lang="en-US" sz="1400" dirty="0"/>
          </a:p>
        </p:txBody>
      </p:sp>
      <p:sp>
        <p:nvSpPr>
          <p:cNvPr id="13" name="Text 10"/>
          <p:cNvSpPr/>
          <p:nvPr/>
        </p:nvSpPr>
        <p:spPr>
          <a:xfrm>
            <a:off x="7223760" y="1920240"/>
            <a:ext cx="1371600" cy="32004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(TN+TP) / Total</a:t>
            </a:r>
            <a:endParaRPr lang="en-US" sz="1000" dirty="0"/>
          </a:p>
        </p:txBody>
      </p:sp>
      <p:sp>
        <p:nvSpPr>
          <p:cNvPr id="14" name="Text 11"/>
          <p:cNvSpPr/>
          <p:nvPr/>
        </p:nvSpPr>
        <p:spPr>
          <a:xfrm>
            <a:off x="5166360" y="2377440"/>
            <a:ext cx="1463040" cy="320040"/>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Precision</a:t>
            </a:r>
            <a:endParaRPr lang="en-US" sz="1200" dirty="0"/>
          </a:p>
        </p:txBody>
      </p:sp>
      <p:sp>
        <p:nvSpPr>
          <p:cNvPr id="15" name="Text 12"/>
          <p:cNvSpPr/>
          <p:nvPr/>
        </p:nvSpPr>
        <p:spPr>
          <a:xfrm>
            <a:off x="6492240" y="2377440"/>
            <a:ext cx="731520" cy="320040"/>
          </a:xfrm>
          <a:prstGeom prst="rect">
            <a:avLst/>
          </a:prstGeom>
          <a:noFill/>
          <a:ln/>
        </p:spPr>
        <p:txBody>
          <a:bodyPr wrap="square" rtlCol="0" anchor="ctr"/>
          <a:lstStyle/>
          <a:p>
            <a:pPr algn="ctr" indent="0" marL="0">
              <a:buNone/>
            </a:pPr>
            <a:r>
              <a:rPr lang="en-US" sz="1400" b="1" dirty="0">
                <a:solidFill>
                  <a:srgbClr val="0891B2"/>
                </a:solidFill>
                <a:latin typeface="Calibri" pitchFamily="34" charset="0"/>
                <a:ea typeface="Calibri" pitchFamily="34" charset="-122"/>
                <a:cs typeface="Calibri" pitchFamily="34" charset="-120"/>
              </a:rPr>
              <a:t>81.0%</a:t>
            </a:r>
            <a:endParaRPr lang="en-US" sz="1400" dirty="0"/>
          </a:p>
        </p:txBody>
      </p:sp>
      <p:sp>
        <p:nvSpPr>
          <p:cNvPr id="16" name="Text 13"/>
          <p:cNvSpPr/>
          <p:nvPr/>
        </p:nvSpPr>
        <p:spPr>
          <a:xfrm>
            <a:off x="7223760" y="2377440"/>
            <a:ext cx="1371600" cy="32004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TP / (TP+FP)</a:t>
            </a:r>
            <a:endParaRPr lang="en-US" sz="1000" dirty="0"/>
          </a:p>
        </p:txBody>
      </p:sp>
      <p:sp>
        <p:nvSpPr>
          <p:cNvPr id="17" name="Text 14"/>
          <p:cNvSpPr/>
          <p:nvPr/>
        </p:nvSpPr>
        <p:spPr>
          <a:xfrm>
            <a:off x="5166360" y="2834640"/>
            <a:ext cx="1463040" cy="320040"/>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Recall</a:t>
            </a:r>
            <a:endParaRPr lang="en-US" sz="1200" dirty="0"/>
          </a:p>
        </p:txBody>
      </p:sp>
      <p:sp>
        <p:nvSpPr>
          <p:cNvPr id="18" name="Text 15"/>
          <p:cNvSpPr/>
          <p:nvPr/>
        </p:nvSpPr>
        <p:spPr>
          <a:xfrm>
            <a:off x="6492240" y="2834640"/>
            <a:ext cx="731520" cy="320040"/>
          </a:xfrm>
          <a:prstGeom prst="rect">
            <a:avLst/>
          </a:prstGeom>
          <a:noFill/>
          <a:ln/>
        </p:spPr>
        <p:txBody>
          <a:bodyPr wrap="square" rtlCol="0" anchor="ctr"/>
          <a:lstStyle/>
          <a:p>
            <a:pPr algn="ctr" indent="0" marL="0">
              <a:buNone/>
            </a:pPr>
            <a:r>
              <a:rPr lang="en-US" sz="1400" b="1" dirty="0">
                <a:solidFill>
                  <a:srgbClr val="0891B2"/>
                </a:solidFill>
                <a:latin typeface="Calibri" pitchFamily="34" charset="0"/>
                <a:ea typeface="Calibri" pitchFamily="34" charset="-122"/>
                <a:cs typeface="Calibri" pitchFamily="34" charset="-120"/>
              </a:rPr>
              <a:t>85.0%</a:t>
            </a:r>
            <a:endParaRPr lang="en-US" sz="1400" dirty="0"/>
          </a:p>
        </p:txBody>
      </p:sp>
      <p:sp>
        <p:nvSpPr>
          <p:cNvPr id="19" name="Text 16"/>
          <p:cNvSpPr/>
          <p:nvPr/>
        </p:nvSpPr>
        <p:spPr>
          <a:xfrm>
            <a:off x="7223760" y="2834640"/>
            <a:ext cx="1371600" cy="32004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TP / (TP+FN)</a:t>
            </a:r>
            <a:endParaRPr lang="en-US" sz="1000" dirty="0"/>
          </a:p>
        </p:txBody>
      </p:sp>
      <p:sp>
        <p:nvSpPr>
          <p:cNvPr id="20" name="Text 17"/>
          <p:cNvSpPr/>
          <p:nvPr/>
        </p:nvSpPr>
        <p:spPr>
          <a:xfrm>
            <a:off x="5166360" y="3291840"/>
            <a:ext cx="1463040" cy="320040"/>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F1-Score</a:t>
            </a:r>
            <a:endParaRPr lang="en-US" sz="1200" dirty="0"/>
          </a:p>
        </p:txBody>
      </p:sp>
      <p:sp>
        <p:nvSpPr>
          <p:cNvPr id="21" name="Text 18"/>
          <p:cNvSpPr/>
          <p:nvPr/>
        </p:nvSpPr>
        <p:spPr>
          <a:xfrm>
            <a:off x="6492240" y="3291840"/>
            <a:ext cx="731520" cy="320040"/>
          </a:xfrm>
          <a:prstGeom prst="rect">
            <a:avLst/>
          </a:prstGeom>
          <a:noFill/>
          <a:ln/>
        </p:spPr>
        <p:txBody>
          <a:bodyPr wrap="square" rtlCol="0" anchor="ctr"/>
          <a:lstStyle/>
          <a:p>
            <a:pPr algn="ctr" indent="0" marL="0">
              <a:buNone/>
            </a:pPr>
            <a:r>
              <a:rPr lang="en-US" sz="1400" b="1" dirty="0">
                <a:solidFill>
                  <a:srgbClr val="0891B2"/>
                </a:solidFill>
                <a:latin typeface="Calibri" pitchFamily="34" charset="0"/>
                <a:ea typeface="Calibri" pitchFamily="34" charset="-122"/>
                <a:cs typeface="Calibri" pitchFamily="34" charset="-120"/>
              </a:rPr>
              <a:t>82.9%</a:t>
            </a:r>
            <a:endParaRPr lang="en-US" sz="1400" dirty="0"/>
          </a:p>
        </p:txBody>
      </p:sp>
      <p:sp>
        <p:nvSpPr>
          <p:cNvPr id="22" name="Text 19"/>
          <p:cNvSpPr/>
          <p:nvPr/>
        </p:nvSpPr>
        <p:spPr>
          <a:xfrm>
            <a:off x="7223760" y="3291840"/>
            <a:ext cx="1371600" cy="32004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Harmonic mean</a:t>
            </a:r>
            <a:endParaRPr lang="en-US" sz="1000" dirty="0"/>
          </a:p>
        </p:txBody>
      </p:sp>
      <p:sp>
        <p:nvSpPr>
          <p:cNvPr id="23" name="Shape 20"/>
          <p:cNvSpPr/>
          <p:nvPr/>
        </p:nvSpPr>
        <p:spPr>
          <a:xfrm>
            <a:off x="457200" y="4160520"/>
            <a:ext cx="8229600" cy="548640"/>
          </a:xfrm>
          <a:prstGeom prst="rectangle">
            <a:avLst/>
          </a:prstGeom>
          <a:solidFill>
            <a:srgbClr val="FEF3C7"/>
          </a:solidFill>
          <a:ln/>
        </p:spPr>
      </p:sp>
      <p:pic>
        <p:nvPicPr>
          <p:cNvPr id="24" name="Image 0" descr="preencoded.png"/>
          <p:cNvPicPr>
            <a:picLocks noChangeAspect="1"/>
          </p:cNvPicPr>
          <p:nvPr/>
        </p:nvPicPr>
        <p:blipFill>
          <a:blip r:embed="rId1"/>
          <a:stretch>
            <a:fillRect/>
          </a:stretch>
        </p:blipFill>
        <p:spPr>
          <a:xfrm>
            <a:off x="594360" y="4233672"/>
            <a:ext cx="320040" cy="320040"/>
          </a:xfrm>
          <a:prstGeom prst="rect">
            <a:avLst/>
          </a:prstGeom>
        </p:spPr>
      </p:pic>
      <p:sp>
        <p:nvSpPr>
          <p:cNvPr id="25" name="Text 21"/>
          <p:cNvSpPr/>
          <p:nvPr/>
        </p:nvSpPr>
        <p:spPr>
          <a:xfrm>
            <a:off x="1005840" y="4160520"/>
            <a:ext cx="7498080" cy="548640"/>
          </a:xfrm>
          <a:prstGeom prst="rect">
            <a:avLst/>
          </a:prstGeom>
          <a:noFill/>
          <a:ln/>
        </p:spPr>
        <p:txBody>
          <a:bodyPr wrap="square"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Clinical Relevance: In clinical trials, false negatives (missing real adverse events) are often more costly than false positives. Which metric matters most?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1828800" cy="320040"/>
          </a:xfrm>
          <a:prstGeom prst="rect">
            <a:avLst/>
          </a:prstGeom>
          <a:noFill/>
          <a:ln/>
        </p:spPr>
        <p:txBody>
          <a:bodyPr wrap="square"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Module 1.2</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Neural Networks &amp; Deep Learning</a:t>
            </a:r>
            <a:endParaRPr lang="en-US" sz="3000" dirty="0"/>
          </a:p>
        </p:txBody>
      </p:sp>
      <p:sp>
        <p:nvSpPr>
          <p:cNvPr id="4" name="Text 2"/>
          <p:cNvSpPr/>
          <p:nvPr/>
        </p:nvSpPr>
        <p:spPr>
          <a:xfrm>
            <a:off x="457200" y="1097280"/>
            <a:ext cx="8229600" cy="32004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Same problem, different approach — when does complexity add value?</a:t>
            </a:r>
            <a:endParaRPr lang="en-US" sz="1300" dirty="0"/>
          </a:p>
        </p:txBody>
      </p:sp>
      <p:sp>
        <p:nvSpPr>
          <p:cNvPr id="5" name="Shape 3"/>
          <p:cNvSpPr/>
          <p:nvPr/>
        </p:nvSpPr>
        <p:spPr>
          <a:xfrm>
            <a:off x="0" y="4892040"/>
            <a:ext cx="9144000" cy="251460"/>
          </a:xfrm>
          <a:prstGeom prst="rectangle">
            <a:avLst/>
          </a:prstGeom>
          <a:solidFill>
            <a:srgbClr val="0F172A"/>
          </a:solidFill>
          <a:ln/>
        </p:spPr>
      </p:sp>
      <p:sp>
        <p:nvSpPr>
          <p:cNvPr id="6" name="Text 4"/>
          <p:cNvSpPr/>
          <p:nvPr/>
        </p:nvSpPr>
        <p:spPr>
          <a:xfrm>
            <a:off x="457200" y="4892040"/>
            <a:ext cx="8229600" cy="25146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AI for Clinical SAS Programmers  |  Training Program 2026</a:t>
            </a:r>
            <a:endParaRPr lang="en-US" sz="800" dirty="0"/>
          </a:p>
        </p:txBody>
      </p:sp>
      <p:sp>
        <p:nvSpPr>
          <p:cNvPr id="7" name="Text 5"/>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 / 22</a:t>
            </a:r>
            <a:endParaRPr lang="en-US" sz="900" dirty="0"/>
          </a:p>
        </p:txBody>
      </p:sp>
      <p:sp>
        <p:nvSpPr>
          <p:cNvPr id="8" name="Shape 6"/>
          <p:cNvSpPr/>
          <p:nvPr/>
        </p:nvSpPr>
        <p:spPr>
          <a:xfrm>
            <a:off x="457200" y="1645920"/>
            <a:ext cx="1920240" cy="137160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57200" y="1645920"/>
            <a:ext cx="1920240" cy="54864"/>
          </a:xfrm>
          <a:prstGeom prst="rectangle">
            <a:avLst/>
          </a:prstGeom>
          <a:solidFill>
            <a:srgbClr val="0891B2"/>
          </a:solidFill>
          <a:ln/>
        </p:spPr>
      </p:sp>
      <p:sp>
        <p:nvSpPr>
          <p:cNvPr id="10" name="Text 8"/>
          <p:cNvSpPr/>
          <p:nvPr/>
        </p:nvSpPr>
        <p:spPr>
          <a:xfrm>
            <a:off x="548640" y="1783080"/>
            <a:ext cx="1737360" cy="365760"/>
          </a:xfrm>
          <a:prstGeom prst="rect">
            <a:avLst/>
          </a:prstGeom>
          <a:noFill/>
          <a:ln/>
        </p:spPr>
        <p:txBody>
          <a:bodyPr wrap="square" rtlCol="0" anchor="ctr"/>
          <a:lstStyle/>
          <a:p>
            <a:pPr algn="ctr" indent="0" marL="0">
              <a:buNone/>
            </a:pPr>
            <a:r>
              <a:rPr lang="en-US" sz="1300" b="1" dirty="0">
                <a:solidFill>
                  <a:srgbClr val="0F172A"/>
                </a:solidFill>
                <a:latin typeface="Georgia" pitchFamily="34" charset="0"/>
                <a:ea typeface="Georgia" pitchFamily="34" charset="-122"/>
                <a:cs typeface="Georgia" pitchFamily="34" charset="-120"/>
              </a:rPr>
              <a:t>Input Layer</a:t>
            </a:r>
            <a:endParaRPr lang="en-US" sz="1300" dirty="0"/>
          </a:p>
        </p:txBody>
      </p:sp>
      <p:sp>
        <p:nvSpPr>
          <p:cNvPr id="11" name="Text 9"/>
          <p:cNvSpPr/>
          <p:nvPr/>
        </p:nvSpPr>
        <p:spPr>
          <a:xfrm>
            <a:off x="548640" y="2194560"/>
            <a:ext cx="1737360" cy="64008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4 features</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(raw data)</a:t>
            </a:r>
            <a:endParaRPr lang="en-US" sz="1100" dirty="0"/>
          </a:p>
        </p:txBody>
      </p:sp>
      <p:sp>
        <p:nvSpPr>
          <p:cNvPr id="12" name="Text 10"/>
          <p:cNvSpPr/>
          <p:nvPr/>
        </p:nvSpPr>
        <p:spPr>
          <a:xfrm>
            <a:off x="2423160" y="2011680"/>
            <a:ext cx="228600" cy="457200"/>
          </a:xfrm>
          <a:prstGeom prst="rect">
            <a:avLst/>
          </a:prstGeom>
          <a:noFill/>
          <a:ln/>
        </p:spPr>
        <p:txBody>
          <a:bodyPr wrap="square" rtlCol="0" anchor="ctr"/>
          <a:lstStyle/>
          <a:p>
            <a:pPr algn="ctr" indent="0" marL="0">
              <a:buNone/>
            </a:pPr>
            <a:r>
              <a:rPr lang="en-US" sz="2000" dirty="0">
                <a:solidFill>
                  <a:srgbClr val="0891B2"/>
                </a:solidFill>
              </a:rPr>
              <a:t>→</a:t>
            </a:r>
            <a:endParaRPr lang="en-US" sz="2000" dirty="0"/>
          </a:p>
        </p:txBody>
      </p:sp>
      <p:sp>
        <p:nvSpPr>
          <p:cNvPr id="13" name="Shape 11"/>
          <p:cNvSpPr/>
          <p:nvPr/>
        </p:nvSpPr>
        <p:spPr>
          <a:xfrm>
            <a:off x="2651760" y="1645920"/>
            <a:ext cx="1920240" cy="137160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14" name="Shape 12"/>
          <p:cNvSpPr/>
          <p:nvPr/>
        </p:nvSpPr>
        <p:spPr>
          <a:xfrm>
            <a:off x="2651760" y="1645920"/>
            <a:ext cx="1920240" cy="54864"/>
          </a:xfrm>
          <a:prstGeom prst="rectangle">
            <a:avLst/>
          </a:prstGeom>
          <a:solidFill>
            <a:srgbClr val="06B6D4"/>
          </a:solidFill>
          <a:ln/>
        </p:spPr>
      </p:sp>
      <p:sp>
        <p:nvSpPr>
          <p:cNvPr id="15" name="Text 13"/>
          <p:cNvSpPr/>
          <p:nvPr/>
        </p:nvSpPr>
        <p:spPr>
          <a:xfrm>
            <a:off x="2743200" y="1783080"/>
            <a:ext cx="1737360" cy="365760"/>
          </a:xfrm>
          <a:prstGeom prst="rect">
            <a:avLst/>
          </a:prstGeom>
          <a:noFill/>
          <a:ln/>
        </p:spPr>
        <p:txBody>
          <a:bodyPr wrap="square" rtlCol="0" anchor="ctr"/>
          <a:lstStyle/>
          <a:p>
            <a:pPr algn="ctr" indent="0" marL="0">
              <a:buNone/>
            </a:pPr>
            <a:r>
              <a:rPr lang="en-US" sz="1300" b="1" dirty="0">
                <a:solidFill>
                  <a:srgbClr val="0F172A"/>
                </a:solidFill>
                <a:latin typeface="Georgia" pitchFamily="34" charset="0"/>
                <a:ea typeface="Georgia" pitchFamily="34" charset="-122"/>
                <a:cs typeface="Georgia" pitchFamily="34" charset="-120"/>
              </a:rPr>
              <a:t>Hidden Layer 1</a:t>
            </a:r>
            <a:endParaRPr lang="en-US" sz="1300" dirty="0"/>
          </a:p>
        </p:txBody>
      </p:sp>
      <p:sp>
        <p:nvSpPr>
          <p:cNvPr id="16" name="Text 14"/>
          <p:cNvSpPr/>
          <p:nvPr/>
        </p:nvSpPr>
        <p:spPr>
          <a:xfrm>
            <a:off x="2743200" y="2194560"/>
            <a:ext cx="1737360" cy="64008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6 neurons</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(learn patterns)</a:t>
            </a:r>
            <a:endParaRPr lang="en-US" sz="1100" dirty="0"/>
          </a:p>
        </p:txBody>
      </p:sp>
      <p:sp>
        <p:nvSpPr>
          <p:cNvPr id="17" name="Text 15"/>
          <p:cNvSpPr/>
          <p:nvPr/>
        </p:nvSpPr>
        <p:spPr>
          <a:xfrm>
            <a:off x="4617720" y="2011680"/>
            <a:ext cx="228600" cy="457200"/>
          </a:xfrm>
          <a:prstGeom prst="rect">
            <a:avLst/>
          </a:prstGeom>
          <a:noFill/>
          <a:ln/>
        </p:spPr>
        <p:txBody>
          <a:bodyPr wrap="square" rtlCol="0" anchor="ctr"/>
          <a:lstStyle/>
          <a:p>
            <a:pPr algn="ctr" indent="0" marL="0">
              <a:buNone/>
            </a:pPr>
            <a:r>
              <a:rPr lang="en-US" sz="2000" dirty="0">
                <a:solidFill>
                  <a:srgbClr val="0891B2"/>
                </a:solidFill>
              </a:rPr>
              <a:t>→</a:t>
            </a:r>
            <a:endParaRPr lang="en-US" sz="2000" dirty="0"/>
          </a:p>
        </p:txBody>
      </p:sp>
      <p:sp>
        <p:nvSpPr>
          <p:cNvPr id="18" name="Shape 16"/>
          <p:cNvSpPr/>
          <p:nvPr/>
        </p:nvSpPr>
        <p:spPr>
          <a:xfrm>
            <a:off x="4846320" y="1645920"/>
            <a:ext cx="1920240" cy="137160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19" name="Shape 17"/>
          <p:cNvSpPr/>
          <p:nvPr/>
        </p:nvSpPr>
        <p:spPr>
          <a:xfrm>
            <a:off x="4846320" y="1645920"/>
            <a:ext cx="1920240" cy="54864"/>
          </a:xfrm>
          <a:prstGeom prst="rectangle">
            <a:avLst/>
          </a:prstGeom>
          <a:solidFill>
            <a:srgbClr val="06B6D4"/>
          </a:solidFill>
          <a:ln/>
        </p:spPr>
      </p:sp>
      <p:sp>
        <p:nvSpPr>
          <p:cNvPr id="20" name="Text 18"/>
          <p:cNvSpPr/>
          <p:nvPr/>
        </p:nvSpPr>
        <p:spPr>
          <a:xfrm>
            <a:off x="4937760" y="1783080"/>
            <a:ext cx="1737360" cy="365760"/>
          </a:xfrm>
          <a:prstGeom prst="rect">
            <a:avLst/>
          </a:prstGeom>
          <a:noFill/>
          <a:ln/>
        </p:spPr>
        <p:txBody>
          <a:bodyPr wrap="square" rtlCol="0" anchor="ctr"/>
          <a:lstStyle/>
          <a:p>
            <a:pPr algn="ctr" indent="0" marL="0">
              <a:buNone/>
            </a:pPr>
            <a:r>
              <a:rPr lang="en-US" sz="1300" b="1" dirty="0">
                <a:solidFill>
                  <a:srgbClr val="0F172A"/>
                </a:solidFill>
                <a:latin typeface="Georgia" pitchFamily="34" charset="0"/>
                <a:ea typeface="Georgia" pitchFamily="34" charset="-122"/>
                <a:cs typeface="Georgia" pitchFamily="34" charset="-120"/>
              </a:rPr>
              <a:t>Hidden Layer 2</a:t>
            </a:r>
            <a:endParaRPr lang="en-US" sz="1300" dirty="0"/>
          </a:p>
        </p:txBody>
      </p:sp>
      <p:sp>
        <p:nvSpPr>
          <p:cNvPr id="21" name="Text 19"/>
          <p:cNvSpPr/>
          <p:nvPr/>
        </p:nvSpPr>
        <p:spPr>
          <a:xfrm>
            <a:off x="4937760" y="2194560"/>
            <a:ext cx="1737360" cy="64008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5 neurons</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(refine features)</a:t>
            </a:r>
            <a:endParaRPr lang="en-US" sz="1100" dirty="0"/>
          </a:p>
        </p:txBody>
      </p:sp>
      <p:sp>
        <p:nvSpPr>
          <p:cNvPr id="22" name="Text 20"/>
          <p:cNvSpPr/>
          <p:nvPr/>
        </p:nvSpPr>
        <p:spPr>
          <a:xfrm>
            <a:off x="6812280" y="2011680"/>
            <a:ext cx="228600" cy="457200"/>
          </a:xfrm>
          <a:prstGeom prst="rect">
            <a:avLst/>
          </a:prstGeom>
          <a:noFill/>
          <a:ln/>
        </p:spPr>
        <p:txBody>
          <a:bodyPr wrap="square" rtlCol="0" anchor="ctr"/>
          <a:lstStyle/>
          <a:p>
            <a:pPr algn="ctr" indent="0" marL="0">
              <a:buNone/>
            </a:pPr>
            <a:r>
              <a:rPr lang="en-US" sz="2000" dirty="0">
                <a:solidFill>
                  <a:srgbClr val="0891B2"/>
                </a:solidFill>
              </a:rPr>
              <a:t>→</a:t>
            </a:r>
            <a:endParaRPr lang="en-US" sz="2000" dirty="0"/>
          </a:p>
        </p:txBody>
      </p:sp>
      <p:sp>
        <p:nvSpPr>
          <p:cNvPr id="23" name="Shape 21"/>
          <p:cNvSpPr/>
          <p:nvPr/>
        </p:nvSpPr>
        <p:spPr>
          <a:xfrm>
            <a:off x="7040880" y="1645920"/>
            <a:ext cx="1920240" cy="137160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24" name="Shape 22"/>
          <p:cNvSpPr/>
          <p:nvPr/>
        </p:nvSpPr>
        <p:spPr>
          <a:xfrm>
            <a:off x="7040880" y="1645920"/>
            <a:ext cx="1920240" cy="54864"/>
          </a:xfrm>
          <a:prstGeom prst="rectangle">
            <a:avLst/>
          </a:prstGeom>
          <a:solidFill>
            <a:srgbClr val="10B981"/>
          </a:solidFill>
          <a:ln/>
        </p:spPr>
      </p:sp>
      <p:sp>
        <p:nvSpPr>
          <p:cNvPr id="25" name="Text 23"/>
          <p:cNvSpPr/>
          <p:nvPr/>
        </p:nvSpPr>
        <p:spPr>
          <a:xfrm>
            <a:off x="7132320" y="1783080"/>
            <a:ext cx="1737360" cy="365760"/>
          </a:xfrm>
          <a:prstGeom prst="rect">
            <a:avLst/>
          </a:prstGeom>
          <a:noFill/>
          <a:ln/>
        </p:spPr>
        <p:txBody>
          <a:bodyPr wrap="square" rtlCol="0" anchor="ctr"/>
          <a:lstStyle/>
          <a:p>
            <a:pPr algn="ctr" indent="0" marL="0">
              <a:buNone/>
            </a:pPr>
            <a:r>
              <a:rPr lang="en-US" sz="1300" b="1" dirty="0">
                <a:solidFill>
                  <a:srgbClr val="0F172A"/>
                </a:solidFill>
                <a:latin typeface="Georgia" pitchFamily="34" charset="0"/>
                <a:ea typeface="Georgia" pitchFamily="34" charset="-122"/>
                <a:cs typeface="Georgia" pitchFamily="34" charset="-120"/>
              </a:rPr>
              <a:t>Output Layer</a:t>
            </a:r>
            <a:endParaRPr lang="en-US" sz="1300" dirty="0"/>
          </a:p>
        </p:txBody>
      </p:sp>
      <p:sp>
        <p:nvSpPr>
          <p:cNvPr id="26" name="Text 24"/>
          <p:cNvSpPr/>
          <p:nvPr/>
        </p:nvSpPr>
        <p:spPr>
          <a:xfrm>
            <a:off x="7132320" y="2194560"/>
            <a:ext cx="1737360" cy="64008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2 neurons</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(predict class)</a:t>
            </a:r>
            <a:endParaRPr lang="en-US" sz="1100" dirty="0"/>
          </a:p>
        </p:txBody>
      </p:sp>
      <p:sp>
        <p:nvSpPr>
          <p:cNvPr id="27" name="Shape 25"/>
          <p:cNvSpPr/>
          <p:nvPr/>
        </p:nvSpPr>
        <p:spPr>
          <a:xfrm>
            <a:off x="457200" y="3291840"/>
            <a:ext cx="2651760" cy="777240"/>
          </a:xfrm>
          <a:prstGeom prst="rectangle">
            <a:avLst/>
          </a:prstGeom>
          <a:solidFill>
            <a:srgbClr val="FFFFFF"/>
          </a:solidFill>
          <a:ln w="12700">
            <a:solidFill>
              <a:srgbClr val="E2E8F0"/>
            </a:solidFill>
            <a:prstDash val="solid"/>
          </a:ln>
        </p:spPr>
      </p:sp>
      <p:sp>
        <p:nvSpPr>
          <p:cNvPr id="28" name="Text 26"/>
          <p:cNvSpPr/>
          <p:nvPr/>
        </p:nvSpPr>
        <p:spPr>
          <a:xfrm>
            <a:off x="594360" y="3337560"/>
            <a:ext cx="2377440" cy="274320"/>
          </a:xfrm>
          <a:prstGeom prst="rect">
            <a:avLst/>
          </a:prstGeom>
          <a:noFill/>
          <a:ln/>
        </p:spPr>
        <p:txBody>
          <a:bodyPr wrap="square"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Activation Functions</a:t>
            </a:r>
            <a:endParaRPr lang="en-US" sz="1100" dirty="0"/>
          </a:p>
        </p:txBody>
      </p:sp>
      <p:sp>
        <p:nvSpPr>
          <p:cNvPr id="29" name="Text 27"/>
          <p:cNvSpPr/>
          <p:nvPr/>
        </p:nvSpPr>
        <p:spPr>
          <a:xfrm>
            <a:off x="594360" y="3611880"/>
            <a:ext cx="237744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ReLU, sigmoid, softmax — transform signals between layers</a:t>
            </a:r>
            <a:endParaRPr lang="en-US" sz="1000" dirty="0"/>
          </a:p>
        </p:txBody>
      </p:sp>
      <p:sp>
        <p:nvSpPr>
          <p:cNvPr id="30" name="Shape 28"/>
          <p:cNvSpPr/>
          <p:nvPr/>
        </p:nvSpPr>
        <p:spPr>
          <a:xfrm>
            <a:off x="3337560" y="3291840"/>
            <a:ext cx="2651760" cy="777240"/>
          </a:xfrm>
          <a:prstGeom prst="rectangle">
            <a:avLst/>
          </a:prstGeom>
          <a:solidFill>
            <a:srgbClr val="FFFFFF"/>
          </a:solidFill>
          <a:ln w="12700">
            <a:solidFill>
              <a:srgbClr val="E2E8F0"/>
            </a:solidFill>
            <a:prstDash val="solid"/>
          </a:ln>
        </p:spPr>
      </p:sp>
      <p:sp>
        <p:nvSpPr>
          <p:cNvPr id="31" name="Text 29"/>
          <p:cNvSpPr/>
          <p:nvPr/>
        </p:nvSpPr>
        <p:spPr>
          <a:xfrm>
            <a:off x="3474720" y="3337560"/>
            <a:ext cx="2377440" cy="274320"/>
          </a:xfrm>
          <a:prstGeom prst="rect">
            <a:avLst/>
          </a:prstGeom>
          <a:noFill/>
          <a:ln/>
        </p:spPr>
        <p:txBody>
          <a:bodyPr wrap="square"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Backpropagation</a:t>
            </a:r>
            <a:endParaRPr lang="en-US" sz="1100" dirty="0"/>
          </a:p>
        </p:txBody>
      </p:sp>
      <p:sp>
        <p:nvSpPr>
          <p:cNvPr id="32" name="Text 30"/>
          <p:cNvSpPr/>
          <p:nvPr/>
        </p:nvSpPr>
        <p:spPr>
          <a:xfrm>
            <a:off x="3474720" y="3611880"/>
            <a:ext cx="237744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Adjusts weights by propagating error gradients backward</a:t>
            </a:r>
            <a:endParaRPr lang="en-US" sz="1000" dirty="0"/>
          </a:p>
        </p:txBody>
      </p:sp>
      <p:sp>
        <p:nvSpPr>
          <p:cNvPr id="33" name="Shape 31"/>
          <p:cNvSpPr/>
          <p:nvPr/>
        </p:nvSpPr>
        <p:spPr>
          <a:xfrm>
            <a:off x="6217920" y="3291840"/>
            <a:ext cx="2651760" cy="777240"/>
          </a:xfrm>
          <a:prstGeom prst="rectangle">
            <a:avLst/>
          </a:prstGeom>
          <a:solidFill>
            <a:srgbClr val="FFFFFF"/>
          </a:solidFill>
          <a:ln w="12700">
            <a:solidFill>
              <a:srgbClr val="E2E8F0"/>
            </a:solidFill>
            <a:prstDash val="solid"/>
          </a:ln>
        </p:spPr>
      </p:sp>
      <p:sp>
        <p:nvSpPr>
          <p:cNvPr id="34" name="Text 32"/>
          <p:cNvSpPr/>
          <p:nvPr/>
        </p:nvSpPr>
        <p:spPr>
          <a:xfrm>
            <a:off x="6355080" y="3337560"/>
            <a:ext cx="2377440" cy="274320"/>
          </a:xfrm>
          <a:prstGeom prst="rect">
            <a:avLst/>
          </a:prstGeom>
          <a:noFill/>
          <a:ln/>
        </p:spPr>
        <p:txBody>
          <a:bodyPr wrap="square"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Epochs &amp; Batch Size</a:t>
            </a:r>
            <a:endParaRPr lang="en-US" sz="1100" dirty="0"/>
          </a:p>
        </p:txBody>
      </p:sp>
      <p:sp>
        <p:nvSpPr>
          <p:cNvPr id="35" name="Text 33"/>
          <p:cNvSpPr/>
          <p:nvPr/>
        </p:nvSpPr>
        <p:spPr>
          <a:xfrm>
            <a:off x="6355080" y="3611880"/>
            <a:ext cx="237744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Control how many times the model sees training data</a:t>
            </a:r>
            <a:endParaRPr lang="en-US" sz="1000" dirty="0"/>
          </a:p>
        </p:txBody>
      </p:sp>
      <p:sp>
        <p:nvSpPr>
          <p:cNvPr id="36" name="Shape 34"/>
          <p:cNvSpPr/>
          <p:nvPr/>
        </p:nvSpPr>
        <p:spPr>
          <a:xfrm>
            <a:off x="457200" y="4297680"/>
            <a:ext cx="8229600" cy="502920"/>
          </a:xfrm>
          <a:prstGeom prst="rectangle">
            <a:avLst/>
          </a:prstGeom>
          <a:solidFill>
            <a:srgbClr val="ECFDF5"/>
          </a:solidFill>
          <a:ln/>
        </p:spPr>
      </p:sp>
      <p:sp>
        <p:nvSpPr>
          <p:cNvPr id="37" name="Text 35"/>
          <p:cNvSpPr/>
          <p:nvPr/>
        </p:nvSpPr>
        <p:spPr>
          <a:xfrm>
            <a:off x="640080" y="4297680"/>
            <a:ext cx="7863840" cy="5029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Hands-On: </a:t>
            </a:r>
            <a:pPr indent="0" marL="0">
              <a:buNone/>
            </a:pPr>
            <a:r>
              <a:rPr lang="en-US" sz="1100" dirty="0">
                <a:solidFill>
                  <a:srgbClr val="1E293B"/>
                </a:solidFill>
                <a:latin typeface="Calibri" pitchFamily="34" charset="0"/>
                <a:ea typeface="Calibri" pitchFamily="34" charset="-122"/>
                <a:cs typeface="Calibri" pitchFamily="34" charset="-120"/>
              </a:rPr>
              <a:t>Train both logistic regression and neural network on the same loan-default data. Compare confusion matrices side by side. Build with PROC NNET (SAS Viya) or scikit-learn.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1828800" cy="320040"/>
          </a:xfrm>
          <a:prstGeom prst="rect">
            <a:avLst/>
          </a:prstGeom>
          <a:noFill/>
          <a:ln/>
        </p:spPr>
        <p:txBody>
          <a:bodyPr wrap="square"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Module 1.2</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0F172A"/>
                </a:solidFill>
                <a:latin typeface="Georgia" pitchFamily="34" charset="0"/>
                <a:ea typeface="Georgia" pitchFamily="34" charset="-122"/>
                <a:cs typeface="Georgia" pitchFamily="34" charset="-120"/>
              </a:rPr>
              <a:t>Model Comparison: Logistic vs. Neural Network</a:t>
            </a:r>
            <a:endParaRPr lang="en-US" sz="2600" dirty="0"/>
          </a:p>
        </p:txBody>
      </p:sp>
      <p:sp>
        <p:nvSpPr>
          <p:cNvPr id="4" name="Shape 2"/>
          <p:cNvSpPr/>
          <p:nvPr/>
        </p:nvSpPr>
        <p:spPr>
          <a:xfrm>
            <a:off x="0" y="4892040"/>
            <a:ext cx="9144000" cy="251460"/>
          </a:xfrm>
          <a:prstGeom prst="rectangle">
            <a:avLst/>
          </a:prstGeom>
          <a:solidFill>
            <a:srgbClr val="0F172A"/>
          </a:solidFill>
          <a:ln/>
        </p:spPr>
      </p:sp>
      <p:sp>
        <p:nvSpPr>
          <p:cNvPr id="5" name="Text 3"/>
          <p:cNvSpPr/>
          <p:nvPr/>
        </p:nvSpPr>
        <p:spPr>
          <a:xfrm>
            <a:off x="457200" y="4892040"/>
            <a:ext cx="8229600" cy="25146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AI for Clinical SAS Programmers  |  Training Program 2026</a:t>
            </a:r>
            <a:endParaRPr lang="en-US" sz="800" dirty="0"/>
          </a:p>
        </p:txBody>
      </p:sp>
      <p:sp>
        <p:nvSpPr>
          <p:cNvPr id="6" name="Text 4"/>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 / 22</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029200" cy="2926080"/>
        </p:xfrm>
        <a:graphic>
          <a:graphicData uri="http://schemas.openxmlformats.org/drawingml/2006/table">
            <a:tbl>
              <a:tblPr/>
              <a:tblGrid>
                <a:gridCol w="1188720"/>
                <a:gridCol w="1280160"/>
                <a:gridCol w="1280160"/>
                <a:gridCol w="1280160"/>
              </a:tblGrid>
              <a:tr h="59436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891B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Logistic</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Regression</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891B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Neural</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891B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Winner</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891B2"/>
                    </a:solidFill>
                  </a:tcPr>
                </a:tc>
              </a:tr>
              <a:tr h="502920">
                <a:tc>
                  <a:txBody>
                    <a:bodyPr/>
                    <a:lstStyle/>
                    <a:p>
                      <a:pPr algn="ctr" indent="0" marL="0">
                        <a:buNone/>
                      </a:pPr>
                      <a:r>
                        <a:rPr lang="en-US" sz="1300" b="1" dirty="0">
                          <a:solidFill>
                            <a:srgbClr val="1E293B"/>
                          </a:solidFill>
                          <a:latin typeface="Calibri" pitchFamily="34" charset="0"/>
                          <a:ea typeface="Calibri" pitchFamily="34" charset="-122"/>
                          <a:cs typeface="Calibri" pitchFamily="34" charset="-120"/>
                        </a:rPr>
                        <a:t>Accuracy</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88.3%</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91.2%</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1FAE5"/>
                    </a:solidFill>
                  </a:tcPr>
                </a:tc>
                <a:tc>
                  <a:txBody>
                    <a:bodyPr/>
                    <a:lstStyle/>
                    <a:p>
                      <a:pPr algn="ctr" indent="0" marL="0">
                        <a:buNone/>
                      </a:pPr>
                      <a:r>
                        <a:rPr lang="en-US" sz="1300" b="1" dirty="0">
                          <a:solidFill>
                            <a:srgbClr val="10B981"/>
                          </a:solidFill>
                          <a:latin typeface="Calibri" pitchFamily="34" charset="0"/>
                          <a:ea typeface="Calibri" pitchFamily="34" charset="-122"/>
                          <a:cs typeface="Calibri" pitchFamily="34" charset="-120"/>
                        </a:rPr>
                        <a:t>NN +2.9</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1FAE5"/>
                    </a:solidFill>
                  </a:tcPr>
                </a:tc>
              </a:tr>
              <a:tr h="502920">
                <a:tc>
                  <a:txBody>
                    <a:bodyPr/>
                    <a:lstStyle/>
                    <a:p>
                      <a:pPr algn="ctr" indent="0" marL="0">
                        <a:buNone/>
                      </a:pPr>
                      <a:r>
                        <a:rPr lang="en-US" sz="1300" b="1" dirty="0">
                          <a:solidFill>
                            <a:srgbClr val="1E293B"/>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81.0%</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86.5%</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1FAE5"/>
                    </a:solidFill>
                  </a:tcPr>
                </a:tc>
                <a:tc>
                  <a:txBody>
                    <a:bodyPr/>
                    <a:lstStyle/>
                    <a:p>
                      <a:pPr algn="ctr" indent="0" marL="0">
                        <a:buNone/>
                      </a:pPr>
                      <a:r>
                        <a:rPr lang="en-US" sz="1300" b="1" dirty="0">
                          <a:solidFill>
                            <a:srgbClr val="10B981"/>
                          </a:solidFill>
                          <a:latin typeface="Calibri" pitchFamily="34" charset="0"/>
                          <a:ea typeface="Calibri" pitchFamily="34" charset="-122"/>
                          <a:cs typeface="Calibri" pitchFamily="34" charset="-120"/>
                        </a:rPr>
                        <a:t>NN +5.5</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1FAE5"/>
                    </a:solidFill>
                  </a:tcPr>
                </a:tc>
              </a:tr>
              <a:tr h="502920">
                <a:tc>
                  <a:txBody>
                    <a:bodyPr/>
                    <a:lstStyle/>
                    <a:p>
                      <a:pPr algn="ctr" indent="0" marL="0">
                        <a:buNone/>
                      </a:pPr>
                      <a:r>
                        <a:rPr lang="en-US" sz="1300" b="1" dirty="0">
                          <a:solidFill>
                            <a:srgbClr val="1E293B"/>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85.0%</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89.0%</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1FAE5"/>
                    </a:solidFill>
                  </a:tcPr>
                </a:tc>
                <a:tc>
                  <a:txBody>
                    <a:bodyPr/>
                    <a:lstStyle/>
                    <a:p>
                      <a:pPr algn="ctr" indent="0" marL="0">
                        <a:buNone/>
                      </a:pPr>
                      <a:r>
                        <a:rPr lang="en-US" sz="1300" b="1" dirty="0">
                          <a:solidFill>
                            <a:srgbClr val="10B981"/>
                          </a:solidFill>
                          <a:latin typeface="Calibri" pitchFamily="34" charset="0"/>
                          <a:ea typeface="Calibri" pitchFamily="34" charset="-122"/>
                          <a:cs typeface="Calibri" pitchFamily="34" charset="-120"/>
                        </a:rPr>
                        <a:t>NN +4.0</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1FAE5"/>
                    </a:solidFill>
                  </a:tcPr>
                </a:tc>
              </a:tr>
              <a:tr h="502920">
                <a:tc>
                  <a:txBody>
                    <a:bodyPr/>
                    <a:lstStyle/>
                    <a:p>
                      <a:pPr algn="ctr" indent="0" marL="0">
                        <a:buNone/>
                      </a:pPr>
                      <a:r>
                        <a:rPr lang="en-US" sz="1300" b="1" dirty="0">
                          <a:solidFill>
                            <a:srgbClr val="1E293B"/>
                          </a:solidFill>
                          <a:latin typeface="Calibri" pitchFamily="34" charset="0"/>
                          <a:ea typeface="Calibri" pitchFamily="34" charset="-122"/>
                          <a:cs typeface="Calibri" pitchFamily="34" charset="-120"/>
                        </a:rPr>
                        <a:t>F1-Score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82.9%</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87.7%</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1FAE5"/>
                    </a:solidFill>
                  </a:tcPr>
                </a:tc>
                <a:tc>
                  <a:txBody>
                    <a:bodyPr/>
                    <a:lstStyle/>
                    <a:p>
                      <a:pPr algn="ctr" indent="0" marL="0">
                        <a:buNone/>
                      </a:pPr>
                      <a:r>
                        <a:rPr lang="en-US" sz="1300" b="1" dirty="0">
                          <a:solidFill>
                            <a:srgbClr val="10B981"/>
                          </a:solidFill>
                          <a:latin typeface="Calibri" pitchFamily="34" charset="0"/>
                          <a:ea typeface="Calibri" pitchFamily="34" charset="-122"/>
                          <a:cs typeface="Calibri" pitchFamily="34" charset="-120"/>
                        </a:rPr>
                        <a:t>NN +4.8</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1FAE5"/>
                    </a:solidFill>
                  </a:tcPr>
                </a:tc>
              </a:tr>
            </a:tbl>
          </a:graphicData>
        </a:graphic>
      </p:graphicFrame>
      <p:sp>
        <p:nvSpPr>
          <p:cNvPr id="8" name="Shape 5"/>
          <p:cNvSpPr/>
          <p:nvPr/>
        </p:nvSpPr>
        <p:spPr>
          <a:xfrm>
            <a:off x="5760720" y="1371600"/>
            <a:ext cx="3017520" cy="320040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9" name="Shape 6"/>
          <p:cNvSpPr/>
          <p:nvPr/>
        </p:nvSpPr>
        <p:spPr>
          <a:xfrm>
            <a:off x="5760720" y="1371600"/>
            <a:ext cx="64008" cy="3200400"/>
          </a:xfrm>
          <a:prstGeom prst="rectangle">
            <a:avLst/>
          </a:prstGeom>
          <a:solidFill>
            <a:srgbClr val="F59E0B"/>
          </a:solidFill>
          <a:ln/>
        </p:spPr>
      </p:sp>
      <p:sp>
        <p:nvSpPr>
          <p:cNvPr id="10" name="Text 7"/>
          <p:cNvSpPr/>
          <p:nvPr/>
        </p:nvSpPr>
        <p:spPr>
          <a:xfrm>
            <a:off x="5989320" y="1508760"/>
            <a:ext cx="2560320" cy="365760"/>
          </a:xfrm>
          <a:prstGeom prst="rect">
            <a:avLst/>
          </a:prstGeom>
          <a:noFill/>
          <a:ln/>
        </p:spPr>
        <p:txBody>
          <a:bodyPr wrap="square" rtlCol="0" anchor="ctr"/>
          <a:lstStyle/>
          <a:p>
            <a:pPr indent="0" marL="0">
              <a:buNone/>
            </a:pPr>
            <a:r>
              <a:rPr lang="en-US" sz="1500" b="1" dirty="0">
                <a:solidFill>
                  <a:srgbClr val="0F172A"/>
                </a:solidFill>
                <a:latin typeface="Georgia" pitchFamily="34" charset="0"/>
                <a:ea typeface="Georgia" pitchFamily="34" charset="-122"/>
                <a:cs typeface="Georgia" pitchFamily="34" charset="-120"/>
              </a:rPr>
              <a:t>Key Takeaways</a:t>
            </a:r>
            <a:endParaRPr lang="en-US" sz="1500" dirty="0"/>
          </a:p>
        </p:txBody>
      </p:sp>
      <p:sp>
        <p:nvSpPr>
          <p:cNvPr id="11" name="Text 8"/>
          <p:cNvSpPr/>
          <p:nvPr/>
        </p:nvSpPr>
        <p:spPr>
          <a:xfrm>
            <a:off x="5989320" y="1965960"/>
            <a:ext cx="2560320" cy="2377440"/>
          </a:xfrm>
          <a:prstGeom prst="rect">
            <a:avLst/>
          </a:prstGeom>
          <a:noFill/>
          <a:ln/>
        </p:spPr>
        <p:txBody>
          <a:bodyPr wrap="square" rtlCol="0" anchor="ctr"/>
          <a:lstStyle/>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Neural network edges ahead on all metrics for this dataset</a:t>
            </a:r>
            <a:endParaRPr lang="en-US" sz="1100" dirty="0"/>
          </a:p>
          <a:p>
            <a:pPr indent="0" marL="0">
              <a:spcAft>
                <a:spcPts val="200"/>
              </a:spcAft>
              <a:buNone/>
            </a:pP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But: more complex, harder to interpret, and requires more data</a:t>
            </a:r>
            <a:endParaRPr lang="en-US" sz="1100" dirty="0"/>
          </a:p>
          <a:p>
            <a:pPr indent="0" marL="0">
              <a:spcAft>
                <a:spcPts val="200"/>
              </a:spcAft>
              <a:buNone/>
            </a:pP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For regulatory submissions, interpretability often matters more than marginal accuracy gains</a:t>
            </a:r>
            <a:endParaRPr lang="en-US" sz="1100" dirty="0"/>
          </a:p>
          <a:p>
            <a:pPr indent="0" marL="0">
              <a:spcAft>
                <a:spcPts val="200"/>
              </a:spcAft>
              <a:buNone/>
            </a:pP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Pick the model that fits the use case, not the one with the highest score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1828800" cy="320040"/>
          </a:xfrm>
          <a:prstGeom prst="rect">
            <a:avLst/>
          </a:prstGeom>
          <a:noFill/>
          <a:ln/>
        </p:spPr>
        <p:txBody>
          <a:bodyPr wrap="square"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Module 1.3</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ML Architecture Overview</a:t>
            </a:r>
            <a:endParaRPr lang="en-US" sz="3000" dirty="0"/>
          </a:p>
        </p:txBody>
      </p:sp>
      <p:sp>
        <p:nvSpPr>
          <p:cNvPr id="4" name="Shape 2"/>
          <p:cNvSpPr/>
          <p:nvPr/>
        </p:nvSpPr>
        <p:spPr>
          <a:xfrm>
            <a:off x="0" y="4892040"/>
            <a:ext cx="9144000" cy="251460"/>
          </a:xfrm>
          <a:prstGeom prst="rectangle">
            <a:avLst/>
          </a:prstGeom>
          <a:solidFill>
            <a:srgbClr val="0F172A"/>
          </a:solidFill>
          <a:ln/>
        </p:spPr>
      </p:sp>
      <p:sp>
        <p:nvSpPr>
          <p:cNvPr id="5" name="Text 3"/>
          <p:cNvSpPr/>
          <p:nvPr/>
        </p:nvSpPr>
        <p:spPr>
          <a:xfrm>
            <a:off x="457200" y="4892040"/>
            <a:ext cx="8229600" cy="25146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AI for Clinical SAS Programmers  |  Training Program 2026</a:t>
            </a:r>
            <a:endParaRPr lang="en-US" sz="800" dirty="0"/>
          </a:p>
        </p:txBody>
      </p:sp>
      <p:sp>
        <p:nvSpPr>
          <p:cNvPr id="6" name="Text 4"/>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 / 22</a:t>
            </a:r>
            <a:endParaRPr lang="en-US" sz="900" dirty="0"/>
          </a:p>
        </p:txBody>
      </p:sp>
      <p:sp>
        <p:nvSpPr>
          <p:cNvPr id="7" name="Shape 5"/>
          <p:cNvSpPr/>
          <p:nvPr/>
        </p:nvSpPr>
        <p:spPr>
          <a:xfrm>
            <a:off x="457200" y="1371600"/>
            <a:ext cx="3931920" cy="320040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8" name="Shape 6"/>
          <p:cNvSpPr/>
          <p:nvPr/>
        </p:nvSpPr>
        <p:spPr>
          <a:xfrm>
            <a:off x="457200" y="1371600"/>
            <a:ext cx="3931920" cy="54864"/>
          </a:xfrm>
          <a:prstGeom prst="rectangle">
            <a:avLst/>
          </a:prstGeom>
          <a:solidFill>
            <a:srgbClr val="0891B2"/>
          </a:solidFill>
          <a:ln/>
        </p:spPr>
      </p:sp>
      <p:sp>
        <p:nvSpPr>
          <p:cNvPr id="9" name="Text 7"/>
          <p:cNvSpPr/>
          <p:nvPr/>
        </p:nvSpPr>
        <p:spPr>
          <a:xfrm>
            <a:off x="640080" y="1554480"/>
            <a:ext cx="3566160" cy="411480"/>
          </a:xfrm>
          <a:prstGeom prst="rect">
            <a:avLst/>
          </a:prstGeom>
          <a:noFill/>
          <a:ln/>
        </p:spPr>
        <p:txBody>
          <a:bodyPr wrap="square"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Supervised Learning</a:t>
            </a:r>
            <a:endParaRPr lang="en-US" sz="1700" dirty="0"/>
          </a:p>
        </p:txBody>
      </p:sp>
      <p:sp>
        <p:nvSpPr>
          <p:cNvPr id="10" name="Text 8"/>
          <p:cNvSpPr/>
          <p:nvPr/>
        </p:nvSpPr>
        <p:spPr>
          <a:xfrm>
            <a:off x="640080" y="1920240"/>
            <a:ext cx="3566160" cy="27432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Models learn from labeled data</a:t>
            </a:r>
            <a:endParaRPr lang="en-US" sz="1100" dirty="0"/>
          </a:p>
        </p:txBody>
      </p:sp>
      <p:sp>
        <p:nvSpPr>
          <p:cNvPr id="11" name="Shape 9"/>
          <p:cNvSpPr/>
          <p:nvPr/>
        </p:nvSpPr>
        <p:spPr>
          <a:xfrm>
            <a:off x="731520" y="2377440"/>
            <a:ext cx="182880" cy="182880"/>
          </a:xfrm>
          <a:prstGeom prst="oval">
            <a:avLst/>
          </a:prstGeom>
          <a:solidFill>
            <a:srgbClr val="0891B2"/>
          </a:solidFill>
          <a:ln/>
        </p:spPr>
      </p:sp>
      <p:sp>
        <p:nvSpPr>
          <p:cNvPr id="12" name="Text 10"/>
          <p:cNvSpPr/>
          <p:nvPr/>
        </p:nvSpPr>
        <p:spPr>
          <a:xfrm>
            <a:off x="1005840" y="2331720"/>
            <a:ext cx="1188720" cy="2743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Regression</a:t>
            </a:r>
            <a:endParaRPr lang="en-US" sz="1100" dirty="0"/>
          </a:p>
        </p:txBody>
      </p:sp>
      <p:sp>
        <p:nvSpPr>
          <p:cNvPr id="13" name="Text 11"/>
          <p:cNvSpPr/>
          <p:nvPr/>
        </p:nvSpPr>
        <p:spPr>
          <a:xfrm>
            <a:off x="2194560" y="2331720"/>
            <a:ext cx="201168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Predicting continuous outcomes</a:t>
            </a:r>
            <a:endParaRPr lang="en-US" sz="1000" dirty="0"/>
          </a:p>
        </p:txBody>
      </p:sp>
      <p:sp>
        <p:nvSpPr>
          <p:cNvPr id="14" name="Shape 12"/>
          <p:cNvSpPr/>
          <p:nvPr/>
        </p:nvSpPr>
        <p:spPr>
          <a:xfrm>
            <a:off x="731520" y="2788920"/>
            <a:ext cx="182880" cy="182880"/>
          </a:xfrm>
          <a:prstGeom prst="oval">
            <a:avLst/>
          </a:prstGeom>
          <a:solidFill>
            <a:srgbClr val="0891B2"/>
          </a:solidFill>
          <a:ln/>
        </p:spPr>
      </p:sp>
      <p:sp>
        <p:nvSpPr>
          <p:cNvPr id="15" name="Text 13"/>
          <p:cNvSpPr/>
          <p:nvPr/>
        </p:nvSpPr>
        <p:spPr>
          <a:xfrm>
            <a:off x="1005840" y="2743200"/>
            <a:ext cx="1188720" cy="2743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Classification</a:t>
            </a:r>
            <a:endParaRPr lang="en-US" sz="1100" dirty="0"/>
          </a:p>
        </p:txBody>
      </p:sp>
      <p:sp>
        <p:nvSpPr>
          <p:cNvPr id="16" name="Text 14"/>
          <p:cNvSpPr/>
          <p:nvPr/>
        </p:nvSpPr>
        <p:spPr>
          <a:xfrm>
            <a:off x="2194560" y="2743200"/>
            <a:ext cx="201168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Binary/multi-class predictions</a:t>
            </a:r>
            <a:endParaRPr lang="en-US" sz="1000" dirty="0"/>
          </a:p>
        </p:txBody>
      </p:sp>
      <p:sp>
        <p:nvSpPr>
          <p:cNvPr id="17" name="Shape 15"/>
          <p:cNvSpPr/>
          <p:nvPr/>
        </p:nvSpPr>
        <p:spPr>
          <a:xfrm>
            <a:off x="731520" y="3200400"/>
            <a:ext cx="182880" cy="182880"/>
          </a:xfrm>
          <a:prstGeom prst="oval">
            <a:avLst/>
          </a:prstGeom>
          <a:solidFill>
            <a:srgbClr val="0891B2"/>
          </a:solidFill>
          <a:ln/>
        </p:spPr>
      </p:sp>
      <p:sp>
        <p:nvSpPr>
          <p:cNvPr id="18" name="Text 16"/>
          <p:cNvSpPr/>
          <p:nvPr/>
        </p:nvSpPr>
        <p:spPr>
          <a:xfrm>
            <a:off x="1005840" y="3154680"/>
            <a:ext cx="1188720" cy="2743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KNN</a:t>
            </a:r>
            <a:endParaRPr lang="en-US" sz="1100" dirty="0"/>
          </a:p>
        </p:txBody>
      </p:sp>
      <p:sp>
        <p:nvSpPr>
          <p:cNvPr id="19" name="Text 17"/>
          <p:cNvSpPr/>
          <p:nvPr/>
        </p:nvSpPr>
        <p:spPr>
          <a:xfrm>
            <a:off x="2194560" y="3154680"/>
            <a:ext cx="201168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Simple, interpretable, small datasets</a:t>
            </a:r>
            <a:endParaRPr lang="en-US" sz="1000" dirty="0"/>
          </a:p>
        </p:txBody>
      </p:sp>
      <p:sp>
        <p:nvSpPr>
          <p:cNvPr id="20" name="Shape 18"/>
          <p:cNvSpPr/>
          <p:nvPr/>
        </p:nvSpPr>
        <p:spPr>
          <a:xfrm>
            <a:off x="731520" y="3611880"/>
            <a:ext cx="182880" cy="182880"/>
          </a:xfrm>
          <a:prstGeom prst="oval">
            <a:avLst/>
          </a:prstGeom>
          <a:solidFill>
            <a:srgbClr val="0891B2"/>
          </a:solidFill>
          <a:ln/>
        </p:spPr>
      </p:sp>
      <p:sp>
        <p:nvSpPr>
          <p:cNvPr id="21" name="Text 19"/>
          <p:cNvSpPr/>
          <p:nvPr/>
        </p:nvSpPr>
        <p:spPr>
          <a:xfrm>
            <a:off x="1005840" y="3566160"/>
            <a:ext cx="1188720" cy="2743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CNN</a:t>
            </a:r>
            <a:endParaRPr lang="en-US" sz="1100" dirty="0"/>
          </a:p>
        </p:txBody>
      </p:sp>
      <p:sp>
        <p:nvSpPr>
          <p:cNvPr id="22" name="Text 20"/>
          <p:cNvSpPr/>
          <p:nvPr/>
        </p:nvSpPr>
        <p:spPr>
          <a:xfrm>
            <a:off x="2194560" y="3566160"/>
            <a:ext cx="201168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Image/pattern recognition</a:t>
            </a:r>
            <a:endParaRPr lang="en-US" sz="1000" dirty="0"/>
          </a:p>
        </p:txBody>
      </p:sp>
      <p:sp>
        <p:nvSpPr>
          <p:cNvPr id="23" name="Shape 21"/>
          <p:cNvSpPr/>
          <p:nvPr/>
        </p:nvSpPr>
        <p:spPr>
          <a:xfrm>
            <a:off x="731520" y="4023360"/>
            <a:ext cx="182880" cy="182880"/>
          </a:xfrm>
          <a:prstGeom prst="oval">
            <a:avLst/>
          </a:prstGeom>
          <a:solidFill>
            <a:srgbClr val="0891B2"/>
          </a:solidFill>
          <a:ln/>
        </p:spPr>
      </p:sp>
      <p:sp>
        <p:nvSpPr>
          <p:cNvPr id="24" name="Text 22"/>
          <p:cNvSpPr/>
          <p:nvPr/>
        </p:nvSpPr>
        <p:spPr>
          <a:xfrm>
            <a:off x="1005840" y="3977640"/>
            <a:ext cx="1188720" cy="2743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RNN/LSTM</a:t>
            </a:r>
            <a:endParaRPr lang="en-US" sz="1100" dirty="0"/>
          </a:p>
        </p:txBody>
      </p:sp>
      <p:sp>
        <p:nvSpPr>
          <p:cNvPr id="25" name="Text 23"/>
          <p:cNvSpPr/>
          <p:nvPr/>
        </p:nvSpPr>
        <p:spPr>
          <a:xfrm>
            <a:off x="2194560" y="3977640"/>
            <a:ext cx="201168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Sequential/time-series data</a:t>
            </a:r>
            <a:endParaRPr lang="en-US" sz="1000" dirty="0"/>
          </a:p>
        </p:txBody>
      </p:sp>
      <p:sp>
        <p:nvSpPr>
          <p:cNvPr id="26" name="Shape 24"/>
          <p:cNvSpPr/>
          <p:nvPr/>
        </p:nvSpPr>
        <p:spPr>
          <a:xfrm>
            <a:off x="4754880" y="1371600"/>
            <a:ext cx="3931920" cy="320040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27" name="Shape 25"/>
          <p:cNvSpPr/>
          <p:nvPr/>
        </p:nvSpPr>
        <p:spPr>
          <a:xfrm>
            <a:off x="4754880" y="1371600"/>
            <a:ext cx="3931920" cy="54864"/>
          </a:xfrm>
          <a:prstGeom prst="rectangle">
            <a:avLst/>
          </a:prstGeom>
          <a:solidFill>
            <a:srgbClr val="8B5CF6"/>
          </a:solidFill>
          <a:ln/>
        </p:spPr>
      </p:sp>
      <p:sp>
        <p:nvSpPr>
          <p:cNvPr id="28" name="Text 26"/>
          <p:cNvSpPr/>
          <p:nvPr/>
        </p:nvSpPr>
        <p:spPr>
          <a:xfrm>
            <a:off x="4937760" y="1554480"/>
            <a:ext cx="3566160" cy="411480"/>
          </a:xfrm>
          <a:prstGeom prst="rect">
            <a:avLst/>
          </a:prstGeom>
          <a:noFill/>
          <a:ln/>
        </p:spPr>
        <p:txBody>
          <a:bodyPr wrap="square"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Unsupervised Learning</a:t>
            </a:r>
            <a:endParaRPr lang="en-US" sz="1700" dirty="0"/>
          </a:p>
        </p:txBody>
      </p:sp>
      <p:sp>
        <p:nvSpPr>
          <p:cNvPr id="29" name="Text 27"/>
          <p:cNvSpPr/>
          <p:nvPr/>
        </p:nvSpPr>
        <p:spPr>
          <a:xfrm>
            <a:off x="4937760" y="1920240"/>
            <a:ext cx="3566160" cy="27432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Models find patterns without labels</a:t>
            </a:r>
            <a:endParaRPr lang="en-US" sz="1100" dirty="0"/>
          </a:p>
        </p:txBody>
      </p:sp>
      <p:sp>
        <p:nvSpPr>
          <p:cNvPr id="30" name="Shape 28"/>
          <p:cNvSpPr/>
          <p:nvPr/>
        </p:nvSpPr>
        <p:spPr>
          <a:xfrm>
            <a:off x="5029200" y="2377440"/>
            <a:ext cx="182880" cy="182880"/>
          </a:xfrm>
          <a:prstGeom prst="oval">
            <a:avLst/>
          </a:prstGeom>
          <a:solidFill>
            <a:srgbClr val="8B5CF6"/>
          </a:solidFill>
          <a:ln/>
        </p:spPr>
      </p:sp>
      <p:sp>
        <p:nvSpPr>
          <p:cNvPr id="31" name="Text 29"/>
          <p:cNvSpPr/>
          <p:nvPr/>
        </p:nvSpPr>
        <p:spPr>
          <a:xfrm>
            <a:off x="5303520" y="2331720"/>
            <a:ext cx="1463040" cy="2743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Clustering</a:t>
            </a:r>
            <a:endParaRPr lang="en-US" sz="1100" dirty="0"/>
          </a:p>
        </p:txBody>
      </p:sp>
      <p:sp>
        <p:nvSpPr>
          <p:cNvPr id="32" name="Text 30"/>
          <p:cNvSpPr/>
          <p:nvPr/>
        </p:nvSpPr>
        <p:spPr>
          <a:xfrm>
            <a:off x="6766560" y="2331720"/>
            <a:ext cx="173736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Patient segmentation, grouping</a:t>
            </a:r>
            <a:endParaRPr lang="en-US" sz="1000" dirty="0"/>
          </a:p>
        </p:txBody>
      </p:sp>
      <p:sp>
        <p:nvSpPr>
          <p:cNvPr id="33" name="Shape 31"/>
          <p:cNvSpPr/>
          <p:nvPr/>
        </p:nvSpPr>
        <p:spPr>
          <a:xfrm>
            <a:off x="5029200" y="2788920"/>
            <a:ext cx="182880" cy="182880"/>
          </a:xfrm>
          <a:prstGeom prst="oval">
            <a:avLst/>
          </a:prstGeom>
          <a:solidFill>
            <a:srgbClr val="8B5CF6"/>
          </a:solidFill>
          <a:ln/>
        </p:spPr>
      </p:sp>
      <p:sp>
        <p:nvSpPr>
          <p:cNvPr id="34" name="Text 32"/>
          <p:cNvSpPr/>
          <p:nvPr/>
        </p:nvSpPr>
        <p:spPr>
          <a:xfrm>
            <a:off x="5303520" y="2743200"/>
            <a:ext cx="1463040" cy="2743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PCA</a:t>
            </a:r>
            <a:endParaRPr lang="en-US" sz="1100" dirty="0"/>
          </a:p>
        </p:txBody>
      </p:sp>
      <p:sp>
        <p:nvSpPr>
          <p:cNvPr id="35" name="Text 33"/>
          <p:cNvSpPr/>
          <p:nvPr/>
        </p:nvSpPr>
        <p:spPr>
          <a:xfrm>
            <a:off x="6766560" y="2743200"/>
            <a:ext cx="173736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Dimensionality reduction</a:t>
            </a:r>
            <a:endParaRPr lang="en-US" sz="1000" dirty="0"/>
          </a:p>
        </p:txBody>
      </p:sp>
      <p:sp>
        <p:nvSpPr>
          <p:cNvPr id="36" name="Shape 34"/>
          <p:cNvSpPr/>
          <p:nvPr/>
        </p:nvSpPr>
        <p:spPr>
          <a:xfrm>
            <a:off x="5029200" y="3200400"/>
            <a:ext cx="182880" cy="182880"/>
          </a:xfrm>
          <a:prstGeom prst="oval">
            <a:avLst/>
          </a:prstGeom>
          <a:solidFill>
            <a:srgbClr val="8B5CF6"/>
          </a:solidFill>
          <a:ln/>
        </p:spPr>
      </p:sp>
      <p:sp>
        <p:nvSpPr>
          <p:cNvPr id="37" name="Text 35"/>
          <p:cNvSpPr/>
          <p:nvPr/>
        </p:nvSpPr>
        <p:spPr>
          <a:xfrm>
            <a:off x="5303520" y="3154680"/>
            <a:ext cx="1463040" cy="2743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Anomaly Detection</a:t>
            </a:r>
            <a:endParaRPr lang="en-US" sz="1100" dirty="0"/>
          </a:p>
        </p:txBody>
      </p:sp>
      <p:sp>
        <p:nvSpPr>
          <p:cNvPr id="38" name="Text 36"/>
          <p:cNvSpPr/>
          <p:nvPr/>
        </p:nvSpPr>
        <p:spPr>
          <a:xfrm>
            <a:off x="6766560" y="3154680"/>
            <a:ext cx="173736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Finding outliers in data</a:t>
            </a:r>
            <a:endParaRPr lang="en-US" sz="1000" dirty="0"/>
          </a:p>
        </p:txBody>
      </p:sp>
      <p:sp>
        <p:nvSpPr>
          <p:cNvPr id="39" name="Shape 37"/>
          <p:cNvSpPr/>
          <p:nvPr/>
        </p:nvSpPr>
        <p:spPr>
          <a:xfrm>
            <a:off x="4754880" y="3474720"/>
            <a:ext cx="3931920" cy="868680"/>
          </a:xfrm>
          <a:prstGeom prst="rectangle">
            <a:avLst/>
          </a:prstGeom>
          <a:solidFill>
            <a:srgbClr val="EDE9FE"/>
          </a:solidFill>
          <a:ln/>
        </p:spPr>
      </p:sp>
      <p:sp>
        <p:nvSpPr>
          <p:cNvPr id="40" name="Text 38"/>
          <p:cNvSpPr/>
          <p:nvPr/>
        </p:nvSpPr>
        <p:spPr>
          <a:xfrm>
            <a:off x="4937760" y="3520440"/>
            <a:ext cx="3566160" cy="320040"/>
          </a:xfrm>
          <a:prstGeom prst="rect">
            <a:avLst/>
          </a:prstGeom>
          <a:noFill/>
          <a:ln/>
        </p:spPr>
        <p:txBody>
          <a:bodyPr wrap="square" rtlCol="0" anchor="ctr"/>
          <a:lstStyle/>
          <a:p>
            <a:pPr indent="0" marL="0">
              <a:buNone/>
            </a:pPr>
            <a:r>
              <a:rPr lang="en-US" sz="1300" b="1" dirty="0">
                <a:solidFill>
                  <a:srgbClr val="8B5CF6"/>
                </a:solidFill>
                <a:latin typeface="Georgia" pitchFamily="34" charset="0"/>
                <a:ea typeface="Georgia" pitchFamily="34" charset="-122"/>
                <a:cs typeface="Georgia" pitchFamily="34" charset="-120"/>
              </a:rPr>
              <a:t>Transformers → LLMs</a:t>
            </a:r>
            <a:endParaRPr lang="en-US" sz="1300" dirty="0"/>
          </a:p>
        </p:txBody>
      </p:sp>
      <p:sp>
        <p:nvSpPr>
          <p:cNvPr id="41" name="Text 39"/>
          <p:cNvSpPr/>
          <p:nvPr/>
        </p:nvSpPr>
        <p:spPr>
          <a:xfrm>
            <a:off x="4937760" y="3840480"/>
            <a:ext cx="356616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The architecture behind ChatGPT, Claude, and the tools in Phase 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2011680"/>
            <a:ext cx="9144000" cy="1097280"/>
          </a:xfrm>
          <a:prstGeom prst="rectangle">
            <a:avLst/>
          </a:prstGeom>
          <a:solidFill>
            <a:srgbClr val="0891B2">
              <a:alpha val="15000"/>
            </a:srgbClr>
          </a:solidFill>
          <a:ln/>
        </p:spPr>
      </p:sp>
      <p:sp>
        <p:nvSpPr>
          <p:cNvPr id="3" name="Text 1"/>
          <p:cNvSpPr/>
          <p:nvPr/>
        </p:nvSpPr>
        <p:spPr>
          <a:xfrm>
            <a:off x="731520" y="1371600"/>
            <a:ext cx="7680960" cy="640080"/>
          </a:xfrm>
          <a:prstGeom prst="rect">
            <a:avLst/>
          </a:prstGeom>
          <a:noFill/>
          <a:ln/>
        </p:spPr>
        <p:txBody>
          <a:bodyPr wrap="square" rtlCol="0" anchor="ctr"/>
          <a:lstStyle/>
          <a:p>
            <a:pPr algn="ctr" indent="0" marL="0">
              <a:buNone/>
            </a:pPr>
            <a:r>
              <a:rPr lang="en-US" sz="1800" i="1" dirty="0">
                <a:solidFill>
                  <a:srgbClr val="94A3B8"/>
                </a:solidFill>
                <a:latin typeface="Calibri" pitchFamily="34" charset="0"/>
                <a:ea typeface="Calibri" pitchFamily="34" charset="-122"/>
                <a:cs typeface="Calibri" pitchFamily="34" charset="-120"/>
              </a:rPr>
              <a:t>Now that you understand how models learn and make predictions...</a:t>
            </a:r>
            <a:endParaRPr lang="en-US" sz="1800" dirty="0"/>
          </a:p>
        </p:txBody>
      </p:sp>
      <p:sp>
        <p:nvSpPr>
          <p:cNvPr id="4" name="Text 2"/>
          <p:cNvSpPr/>
          <p:nvPr/>
        </p:nvSpPr>
        <p:spPr>
          <a:xfrm>
            <a:off x="731520" y="2103120"/>
            <a:ext cx="7680960" cy="45720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Let's use the most powerful models available today</a:t>
            </a:r>
            <a:endParaRPr lang="en-US" sz="2200" dirty="0"/>
          </a:p>
        </p:txBody>
      </p:sp>
      <p:sp>
        <p:nvSpPr>
          <p:cNvPr id="5" name="Text 3"/>
          <p:cNvSpPr/>
          <p:nvPr/>
        </p:nvSpPr>
        <p:spPr>
          <a:xfrm>
            <a:off x="731520" y="2560320"/>
            <a:ext cx="7680960" cy="457200"/>
          </a:xfrm>
          <a:prstGeom prst="rect">
            <a:avLst/>
          </a:prstGeom>
          <a:noFill/>
          <a:ln/>
        </p:spPr>
        <p:txBody>
          <a:bodyPr wrap="square" rtlCol="0" anchor="ctr"/>
          <a:lstStyle/>
          <a:p>
            <a:pPr algn="ctr" indent="0" marL="0">
              <a:buNone/>
            </a:pPr>
            <a:r>
              <a:rPr lang="en-US" sz="1600" dirty="0">
                <a:solidFill>
                  <a:srgbClr val="06B6D4"/>
                </a:solidFill>
                <a:latin typeface="Calibri" pitchFamily="34" charset="0"/>
                <a:ea typeface="Calibri" pitchFamily="34" charset="-122"/>
                <a:cs typeface="Calibri" pitchFamily="34" charset="-120"/>
              </a:rPr>
              <a:t>Large Language Models as Programming Assistants</a:t>
            </a:r>
            <a:endParaRPr lang="en-US" sz="1600" dirty="0"/>
          </a:p>
        </p:txBody>
      </p:sp>
      <p:pic>
        <p:nvPicPr>
          <p:cNvPr id="6" name="Image 0" descr="preencoded.png"/>
          <p:cNvPicPr>
            <a:picLocks noChangeAspect="1"/>
          </p:cNvPicPr>
          <p:nvPr/>
        </p:nvPicPr>
        <p:blipFill>
          <a:blip r:embed="rId1"/>
          <a:stretch>
            <a:fillRect/>
          </a:stretch>
        </p:blipFill>
        <p:spPr>
          <a:xfrm>
            <a:off x="4343400" y="3474720"/>
            <a:ext cx="457200" cy="457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angle">
            <a:avLst/>
          </a:prstGeom>
          <a:solidFill>
            <a:srgbClr val="0891B2"/>
          </a:solidFill>
          <a:ln/>
        </p:spPr>
      </p:sp>
      <p:sp>
        <p:nvSpPr>
          <p:cNvPr id="3" name="Text 1"/>
          <p:cNvSpPr/>
          <p:nvPr/>
        </p:nvSpPr>
        <p:spPr>
          <a:xfrm>
            <a:off x="640080" y="1280160"/>
            <a:ext cx="7315200" cy="548640"/>
          </a:xfrm>
          <a:prstGeom prst="rect">
            <a:avLst/>
          </a:prstGeom>
          <a:noFill/>
          <a:ln/>
        </p:spPr>
        <p:txBody>
          <a:bodyPr wrap="square" rtlCol="0" anchor="ctr"/>
          <a:lstStyle/>
          <a:p>
            <a:pPr indent="0" marL="0">
              <a:buNone/>
            </a:pPr>
            <a:r>
              <a:rPr lang="en-US" sz="1600" b="1" spc="600" kern="0" dirty="0">
                <a:solidFill>
                  <a:srgbClr val="06B6D4"/>
                </a:solidFill>
                <a:latin typeface="Calibri" pitchFamily="34" charset="0"/>
                <a:ea typeface="Calibri" pitchFamily="34" charset="-122"/>
                <a:cs typeface="Calibri" pitchFamily="34" charset="-120"/>
              </a:rPr>
              <a:t>PHASE 2</a:t>
            </a:r>
            <a:endParaRPr lang="en-US" sz="1600" dirty="0"/>
          </a:p>
        </p:txBody>
      </p:sp>
      <p:sp>
        <p:nvSpPr>
          <p:cNvPr id="4" name="Text 2"/>
          <p:cNvSpPr/>
          <p:nvPr/>
        </p:nvSpPr>
        <p:spPr>
          <a:xfrm>
            <a:off x="640080" y="1828800"/>
            <a:ext cx="7772400" cy="91440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LLMs &amp; AI Tools</a:t>
            </a:r>
            <a:endParaRPr lang="en-US" sz="4000" dirty="0"/>
          </a:p>
        </p:txBody>
      </p:sp>
      <p:sp>
        <p:nvSpPr>
          <p:cNvPr id="5" name="Text 3"/>
          <p:cNvSpPr/>
          <p:nvPr/>
        </p:nvSpPr>
        <p:spPr>
          <a:xfrm>
            <a:off x="640080" y="2834640"/>
            <a:ext cx="7315200" cy="73152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Hands-on proficiency with AI-powered coding tools for clinical programming</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1828800" cy="320040"/>
          </a:xfrm>
          <a:prstGeom prst="rect">
            <a:avLst/>
          </a:prstGeom>
          <a:noFill/>
          <a:ln/>
        </p:spPr>
        <p:txBody>
          <a:bodyPr wrap="square"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Module 2.1</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LLMs &amp; Prompt Engineering</a:t>
            </a:r>
            <a:endParaRPr lang="en-US" sz="3000" dirty="0"/>
          </a:p>
        </p:txBody>
      </p:sp>
      <p:sp>
        <p:nvSpPr>
          <p:cNvPr id="4" name="Shape 2"/>
          <p:cNvSpPr/>
          <p:nvPr/>
        </p:nvSpPr>
        <p:spPr>
          <a:xfrm>
            <a:off x="0" y="4892040"/>
            <a:ext cx="9144000" cy="251460"/>
          </a:xfrm>
          <a:prstGeom prst="rectangle">
            <a:avLst/>
          </a:prstGeom>
          <a:solidFill>
            <a:srgbClr val="0F172A"/>
          </a:solidFill>
          <a:ln/>
        </p:spPr>
      </p:sp>
      <p:sp>
        <p:nvSpPr>
          <p:cNvPr id="5" name="Text 3"/>
          <p:cNvSpPr/>
          <p:nvPr/>
        </p:nvSpPr>
        <p:spPr>
          <a:xfrm>
            <a:off x="457200" y="4892040"/>
            <a:ext cx="8229600" cy="25146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AI for Clinical SAS Programmers  |  Training Program 2026</a:t>
            </a:r>
            <a:endParaRPr lang="en-US" sz="800" dirty="0"/>
          </a:p>
        </p:txBody>
      </p:sp>
      <p:sp>
        <p:nvSpPr>
          <p:cNvPr id="6" name="Text 4"/>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11 / 22</a:t>
            </a:r>
            <a:endParaRPr lang="en-US" sz="900" dirty="0"/>
          </a:p>
        </p:txBody>
      </p:sp>
      <p:sp>
        <p:nvSpPr>
          <p:cNvPr id="7" name="Shape 5"/>
          <p:cNvSpPr/>
          <p:nvPr/>
        </p:nvSpPr>
        <p:spPr>
          <a:xfrm>
            <a:off x="457200" y="1371600"/>
            <a:ext cx="3931920" cy="146304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8" name="Shape 6"/>
          <p:cNvSpPr/>
          <p:nvPr/>
        </p:nvSpPr>
        <p:spPr>
          <a:xfrm>
            <a:off x="457200" y="1371600"/>
            <a:ext cx="64008" cy="1463040"/>
          </a:xfrm>
          <a:prstGeom prst="rectangle">
            <a:avLst/>
          </a:prstGeom>
          <a:solidFill>
            <a:srgbClr val="0891B2"/>
          </a:solidFill>
          <a:ln/>
        </p:spPr>
      </p:sp>
      <p:pic>
        <p:nvPicPr>
          <p:cNvPr id="9" name="Image 0" descr="preencoded.png"/>
          <p:cNvPicPr>
            <a:picLocks noChangeAspect="1"/>
          </p:cNvPicPr>
          <p:nvPr/>
        </p:nvPicPr>
        <p:blipFill>
          <a:blip r:embed="rId1"/>
          <a:stretch>
            <a:fillRect/>
          </a:stretch>
        </p:blipFill>
        <p:spPr>
          <a:xfrm>
            <a:off x="685800" y="1508760"/>
            <a:ext cx="365760" cy="365760"/>
          </a:xfrm>
          <a:prstGeom prst="rect">
            <a:avLst/>
          </a:prstGeom>
        </p:spPr>
      </p:pic>
      <p:sp>
        <p:nvSpPr>
          <p:cNvPr id="10" name="Text 7"/>
          <p:cNvSpPr/>
          <p:nvPr/>
        </p:nvSpPr>
        <p:spPr>
          <a:xfrm>
            <a:off x="1143000" y="1508760"/>
            <a:ext cx="3017520" cy="365760"/>
          </a:xfrm>
          <a:prstGeom prst="rect">
            <a:avLst/>
          </a:prstGeom>
          <a:noFill/>
          <a:ln/>
        </p:spPr>
        <p:txBody>
          <a:bodyPr wrap="square" rtlCol="0" anchor="ctr"/>
          <a:lstStyle/>
          <a:p>
            <a:pPr indent="0" marL="0">
              <a:buNone/>
            </a:pPr>
            <a:r>
              <a:rPr lang="en-US" sz="1400" b="1" dirty="0">
                <a:solidFill>
                  <a:srgbClr val="0F172A"/>
                </a:solidFill>
                <a:latin typeface="Georgia" pitchFamily="34" charset="0"/>
                <a:ea typeface="Georgia" pitchFamily="34" charset="-122"/>
                <a:cs typeface="Georgia" pitchFamily="34" charset="-120"/>
              </a:rPr>
              <a:t>What Is an LLM?</a:t>
            </a:r>
            <a:endParaRPr lang="en-US" sz="1400" dirty="0"/>
          </a:p>
        </p:txBody>
      </p:sp>
      <p:sp>
        <p:nvSpPr>
          <p:cNvPr id="11" name="Text 8"/>
          <p:cNvSpPr/>
          <p:nvPr/>
        </p:nvSpPr>
        <p:spPr>
          <a:xfrm>
            <a:off x="685800" y="1920240"/>
            <a:ext cx="3474720" cy="8229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 massive neural network trained on text data. Relates directly to the neural networks from Phase 1, but with billions of parameters and trained on internet-scale data.</a:t>
            </a:r>
            <a:endParaRPr lang="en-US" sz="1100" dirty="0"/>
          </a:p>
        </p:txBody>
      </p:sp>
      <p:sp>
        <p:nvSpPr>
          <p:cNvPr id="12" name="Shape 9"/>
          <p:cNvSpPr/>
          <p:nvPr/>
        </p:nvSpPr>
        <p:spPr>
          <a:xfrm>
            <a:off x="4754880" y="1371600"/>
            <a:ext cx="3931920" cy="146304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13" name="Shape 10"/>
          <p:cNvSpPr/>
          <p:nvPr/>
        </p:nvSpPr>
        <p:spPr>
          <a:xfrm>
            <a:off x="4754880" y="1371600"/>
            <a:ext cx="64008" cy="1463040"/>
          </a:xfrm>
          <a:prstGeom prst="rectangle">
            <a:avLst/>
          </a:prstGeom>
          <a:solidFill>
            <a:srgbClr val="F59E0B"/>
          </a:solidFill>
          <a:ln/>
        </p:spPr>
      </p:sp>
      <p:pic>
        <p:nvPicPr>
          <p:cNvPr id="14" name="Image 1" descr="preencoded.png"/>
          <p:cNvPicPr>
            <a:picLocks noChangeAspect="1"/>
          </p:cNvPicPr>
          <p:nvPr/>
        </p:nvPicPr>
        <p:blipFill>
          <a:blip r:embed="rId2"/>
          <a:stretch>
            <a:fillRect/>
          </a:stretch>
        </p:blipFill>
        <p:spPr>
          <a:xfrm>
            <a:off x="4983480" y="1508760"/>
            <a:ext cx="365760" cy="365760"/>
          </a:xfrm>
          <a:prstGeom prst="rect">
            <a:avLst/>
          </a:prstGeom>
        </p:spPr>
      </p:pic>
      <p:sp>
        <p:nvSpPr>
          <p:cNvPr id="15" name="Text 11"/>
          <p:cNvSpPr/>
          <p:nvPr/>
        </p:nvSpPr>
        <p:spPr>
          <a:xfrm>
            <a:off x="5440680" y="1508760"/>
            <a:ext cx="3017520" cy="365760"/>
          </a:xfrm>
          <a:prstGeom prst="rect">
            <a:avLst/>
          </a:prstGeom>
          <a:noFill/>
          <a:ln/>
        </p:spPr>
        <p:txBody>
          <a:bodyPr wrap="square" rtlCol="0" anchor="ctr"/>
          <a:lstStyle/>
          <a:p>
            <a:pPr indent="0" marL="0">
              <a:buNone/>
            </a:pPr>
            <a:r>
              <a:rPr lang="en-US" sz="1400" b="1" dirty="0">
                <a:solidFill>
                  <a:srgbClr val="0F172A"/>
                </a:solidFill>
                <a:latin typeface="Georgia" pitchFamily="34" charset="0"/>
                <a:ea typeface="Georgia" pitchFamily="34" charset="-122"/>
                <a:cs typeface="Georgia" pitchFamily="34" charset="-120"/>
              </a:rPr>
              <a:t>Key Concepts</a:t>
            </a:r>
            <a:endParaRPr lang="en-US" sz="1400" dirty="0"/>
          </a:p>
        </p:txBody>
      </p:sp>
      <p:sp>
        <p:nvSpPr>
          <p:cNvPr id="16" name="Text 12"/>
          <p:cNvSpPr/>
          <p:nvPr/>
        </p:nvSpPr>
        <p:spPr>
          <a:xfrm>
            <a:off x="4983480" y="1920240"/>
            <a:ext cx="3474720" cy="8229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Token-based processing, context windows, temperature, and why prompt design is the #1 skill for effective AI use.</a:t>
            </a:r>
            <a:endParaRPr lang="en-US" sz="1100" dirty="0"/>
          </a:p>
        </p:txBody>
      </p:sp>
      <p:sp>
        <p:nvSpPr>
          <p:cNvPr id="17" name="Text 13"/>
          <p:cNvSpPr/>
          <p:nvPr/>
        </p:nvSpPr>
        <p:spPr>
          <a:xfrm>
            <a:off x="457200" y="3063240"/>
            <a:ext cx="8229600" cy="365760"/>
          </a:xfrm>
          <a:prstGeom prst="rect">
            <a:avLst/>
          </a:prstGeom>
          <a:noFill/>
          <a:ln/>
        </p:spPr>
        <p:txBody>
          <a:bodyPr wrap="square"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Prompting Techniques for Clinical Programming</a:t>
            </a:r>
            <a:endParaRPr lang="en-US" sz="1600" dirty="0"/>
          </a:p>
        </p:txBody>
      </p:sp>
      <p:sp>
        <p:nvSpPr>
          <p:cNvPr id="18" name="Shape 14"/>
          <p:cNvSpPr/>
          <p:nvPr/>
        </p:nvSpPr>
        <p:spPr>
          <a:xfrm>
            <a:off x="457200" y="3520440"/>
            <a:ext cx="1920240" cy="118872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19" name="Shape 15"/>
          <p:cNvSpPr/>
          <p:nvPr/>
        </p:nvSpPr>
        <p:spPr>
          <a:xfrm>
            <a:off x="457200" y="3520440"/>
            <a:ext cx="1920240" cy="45720"/>
          </a:xfrm>
          <a:prstGeom prst="rectangle">
            <a:avLst/>
          </a:prstGeom>
          <a:solidFill>
            <a:srgbClr val="0891B2"/>
          </a:solidFill>
          <a:ln/>
        </p:spPr>
      </p:sp>
      <p:sp>
        <p:nvSpPr>
          <p:cNvPr id="20" name="Text 16"/>
          <p:cNvSpPr/>
          <p:nvPr/>
        </p:nvSpPr>
        <p:spPr>
          <a:xfrm>
            <a:off x="594360" y="3611880"/>
            <a:ext cx="1645920" cy="457200"/>
          </a:xfrm>
          <a:prstGeom prst="rect">
            <a:avLst/>
          </a:prstGeom>
          <a:noFill/>
          <a:ln/>
        </p:spPr>
        <p:txBody>
          <a:bodyPr wrap="square" rtlCol="0" anchor="ctr"/>
          <a:lstStyle/>
          <a:p>
            <a:pPr indent="0" marL="0">
              <a:buNone/>
            </a:pPr>
            <a:r>
              <a:rPr lang="en-US" sz="1200" b="1" dirty="0">
                <a:solidFill>
                  <a:srgbClr val="0891B2"/>
                </a:solidFill>
                <a:latin typeface="Georgia" pitchFamily="34" charset="0"/>
                <a:ea typeface="Georgia" pitchFamily="34" charset="-122"/>
                <a:cs typeface="Georgia" pitchFamily="34" charset="-120"/>
              </a:rPr>
              <a:t>Few-Shot</a:t>
            </a:r>
            <a:endParaRPr lang="en-US" sz="1200" dirty="0"/>
          </a:p>
          <a:p>
            <a:pPr indent="0" marL="0">
              <a:buNone/>
            </a:pPr>
            <a:r>
              <a:rPr lang="en-US" sz="1200" b="1" dirty="0">
                <a:solidFill>
                  <a:srgbClr val="0891B2"/>
                </a:solidFill>
                <a:latin typeface="Georgia" pitchFamily="34" charset="0"/>
                <a:ea typeface="Georgia" pitchFamily="34" charset="-122"/>
                <a:cs typeface="Georgia" pitchFamily="34" charset="-120"/>
              </a:rPr>
              <a:t>Examples</a:t>
            </a:r>
            <a:endParaRPr lang="en-US" sz="1200" dirty="0"/>
          </a:p>
        </p:txBody>
      </p:sp>
      <p:sp>
        <p:nvSpPr>
          <p:cNvPr id="21" name="Text 17"/>
          <p:cNvSpPr/>
          <p:nvPr/>
        </p:nvSpPr>
        <p:spPr>
          <a:xfrm>
            <a:off x="594360" y="4114800"/>
            <a:ext cx="1645920" cy="5029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Show the LLM what good SDTM code looks like</a:t>
            </a:r>
            <a:endParaRPr lang="en-US" sz="1000" dirty="0"/>
          </a:p>
        </p:txBody>
      </p:sp>
      <p:sp>
        <p:nvSpPr>
          <p:cNvPr id="22" name="Shape 18"/>
          <p:cNvSpPr/>
          <p:nvPr/>
        </p:nvSpPr>
        <p:spPr>
          <a:xfrm>
            <a:off x="2606040" y="3520440"/>
            <a:ext cx="1920240" cy="118872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23" name="Shape 19"/>
          <p:cNvSpPr/>
          <p:nvPr/>
        </p:nvSpPr>
        <p:spPr>
          <a:xfrm>
            <a:off x="2606040" y="3520440"/>
            <a:ext cx="1920240" cy="45720"/>
          </a:xfrm>
          <a:prstGeom prst="rectangle">
            <a:avLst/>
          </a:prstGeom>
          <a:solidFill>
            <a:srgbClr val="0891B2"/>
          </a:solidFill>
          <a:ln/>
        </p:spPr>
      </p:sp>
      <p:sp>
        <p:nvSpPr>
          <p:cNvPr id="24" name="Text 20"/>
          <p:cNvSpPr/>
          <p:nvPr/>
        </p:nvSpPr>
        <p:spPr>
          <a:xfrm>
            <a:off x="2743200" y="3611880"/>
            <a:ext cx="1645920" cy="457200"/>
          </a:xfrm>
          <a:prstGeom prst="rect">
            <a:avLst/>
          </a:prstGeom>
          <a:noFill/>
          <a:ln/>
        </p:spPr>
        <p:txBody>
          <a:bodyPr wrap="square" rtlCol="0" anchor="ctr"/>
          <a:lstStyle/>
          <a:p>
            <a:pPr indent="0" marL="0">
              <a:buNone/>
            </a:pPr>
            <a:r>
              <a:rPr lang="en-US" sz="1200" b="1" dirty="0">
                <a:solidFill>
                  <a:srgbClr val="0891B2"/>
                </a:solidFill>
                <a:latin typeface="Georgia" pitchFamily="34" charset="0"/>
                <a:ea typeface="Georgia" pitchFamily="34" charset="-122"/>
                <a:cs typeface="Georgia" pitchFamily="34" charset="-120"/>
              </a:rPr>
              <a:t>System</a:t>
            </a:r>
            <a:endParaRPr lang="en-US" sz="1200" dirty="0"/>
          </a:p>
          <a:p>
            <a:pPr indent="0" marL="0">
              <a:buNone/>
            </a:pPr>
            <a:r>
              <a:rPr lang="en-US" sz="1200" b="1" dirty="0">
                <a:solidFill>
                  <a:srgbClr val="0891B2"/>
                </a:solidFill>
                <a:latin typeface="Georgia" pitchFamily="34" charset="0"/>
                <a:ea typeface="Georgia" pitchFamily="34" charset="-122"/>
                <a:cs typeface="Georgia" pitchFamily="34" charset="-120"/>
              </a:rPr>
              <a:t>Prompts</a:t>
            </a:r>
            <a:endParaRPr lang="en-US" sz="1200" dirty="0"/>
          </a:p>
        </p:txBody>
      </p:sp>
      <p:sp>
        <p:nvSpPr>
          <p:cNvPr id="25" name="Text 21"/>
          <p:cNvSpPr/>
          <p:nvPr/>
        </p:nvSpPr>
        <p:spPr>
          <a:xfrm>
            <a:off x="2743200" y="4114800"/>
            <a:ext cx="1645920" cy="5029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Set clinical programming context upfront</a:t>
            </a:r>
            <a:endParaRPr lang="en-US" sz="1000" dirty="0"/>
          </a:p>
        </p:txBody>
      </p:sp>
      <p:sp>
        <p:nvSpPr>
          <p:cNvPr id="26" name="Shape 22"/>
          <p:cNvSpPr/>
          <p:nvPr/>
        </p:nvSpPr>
        <p:spPr>
          <a:xfrm>
            <a:off x="4754880" y="3520440"/>
            <a:ext cx="1920240" cy="118872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27" name="Shape 23"/>
          <p:cNvSpPr/>
          <p:nvPr/>
        </p:nvSpPr>
        <p:spPr>
          <a:xfrm>
            <a:off x="4754880" y="3520440"/>
            <a:ext cx="1920240" cy="45720"/>
          </a:xfrm>
          <a:prstGeom prst="rectangle">
            <a:avLst/>
          </a:prstGeom>
          <a:solidFill>
            <a:srgbClr val="0891B2"/>
          </a:solidFill>
          <a:ln/>
        </p:spPr>
      </p:sp>
      <p:sp>
        <p:nvSpPr>
          <p:cNvPr id="28" name="Text 24"/>
          <p:cNvSpPr/>
          <p:nvPr/>
        </p:nvSpPr>
        <p:spPr>
          <a:xfrm>
            <a:off x="4892040" y="3611880"/>
            <a:ext cx="1645920" cy="457200"/>
          </a:xfrm>
          <a:prstGeom prst="rect">
            <a:avLst/>
          </a:prstGeom>
          <a:noFill/>
          <a:ln/>
        </p:spPr>
        <p:txBody>
          <a:bodyPr wrap="square" rtlCol="0" anchor="ctr"/>
          <a:lstStyle/>
          <a:p>
            <a:pPr indent="0" marL="0">
              <a:buNone/>
            </a:pPr>
            <a:r>
              <a:rPr lang="en-US" sz="1200" b="1" dirty="0">
                <a:solidFill>
                  <a:srgbClr val="0891B2"/>
                </a:solidFill>
                <a:latin typeface="Georgia" pitchFamily="34" charset="0"/>
                <a:ea typeface="Georgia" pitchFamily="34" charset="-122"/>
                <a:cs typeface="Georgia" pitchFamily="34" charset="-120"/>
              </a:rPr>
              <a:t>Chain-of-</a:t>
            </a:r>
            <a:endParaRPr lang="en-US" sz="1200" dirty="0"/>
          </a:p>
          <a:p>
            <a:pPr indent="0" marL="0">
              <a:buNone/>
            </a:pPr>
            <a:r>
              <a:rPr lang="en-US" sz="1200" b="1" dirty="0">
                <a:solidFill>
                  <a:srgbClr val="0891B2"/>
                </a:solidFill>
                <a:latin typeface="Georgia" pitchFamily="34" charset="0"/>
                <a:ea typeface="Georgia" pitchFamily="34" charset="-122"/>
                <a:cs typeface="Georgia" pitchFamily="34" charset="-120"/>
              </a:rPr>
              <a:t>Thought</a:t>
            </a:r>
            <a:endParaRPr lang="en-US" sz="1200" dirty="0"/>
          </a:p>
        </p:txBody>
      </p:sp>
      <p:sp>
        <p:nvSpPr>
          <p:cNvPr id="29" name="Text 25"/>
          <p:cNvSpPr/>
          <p:nvPr/>
        </p:nvSpPr>
        <p:spPr>
          <a:xfrm>
            <a:off x="4892040" y="4114800"/>
            <a:ext cx="1645920" cy="5029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Have the LLM reason through mapping logic</a:t>
            </a:r>
            <a:endParaRPr lang="en-US" sz="1000" dirty="0"/>
          </a:p>
        </p:txBody>
      </p:sp>
      <p:sp>
        <p:nvSpPr>
          <p:cNvPr id="30" name="Shape 26"/>
          <p:cNvSpPr/>
          <p:nvPr/>
        </p:nvSpPr>
        <p:spPr>
          <a:xfrm>
            <a:off x="6903720" y="3520440"/>
            <a:ext cx="1920240" cy="118872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31" name="Shape 27"/>
          <p:cNvSpPr/>
          <p:nvPr/>
        </p:nvSpPr>
        <p:spPr>
          <a:xfrm>
            <a:off x="6903720" y="3520440"/>
            <a:ext cx="1920240" cy="45720"/>
          </a:xfrm>
          <a:prstGeom prst="rectangle">
            <a:avLst/>
          </a:prstGeom>
          <a:solidFill>
            <a:srgbClr val="0891B2"/>
          </a:solidFill>
          <a:ln/>
        </p:spPr>
      </p:sp>
      <p:sp>
        <p:nvSpPr>
          <p:cNvPr id="32" name="Text 28"/>
          <p:cNvSpPr/>
          <p:nvPr/>
        </p:nvSpPr>
        <p:spPr>
          <a:xfrm>
            <a:off x="7040880" y="3611880"/>
            <a:ext cx="1645920" cy="457200"/>
          </a:xfrm>
          <a:prstGeom prst="rect">
            <a:avLst/>
          </a:prstGeom>
          <a:noFill/>
          <a:ln/>
        </p:spPr>
        <p:txBody>
          <a:bodyPr wrap="square" rtlCol="0" anchor="ctr"/>
          <a:lstStyle/>
          <a:p>
            <a:pPr indent="0" marL="0">
              <a:buNone/>
            </a:pPr>
            <a:r>
              <a:rPr lang="en-US" sz="1200" b="1" dirty="0">
                <a:solidFill>
                  <a:srgbClr val="0891B2"/>
                </a:solidFill>
                <a:latin typeface="Georgia" pitchFamily="34" charset="0"/>
                <a:ea typeface="Georgia" pitchFamily="34" charset="-122"/>
                <a:cs typeface="Georgia" pitchFamily="34" charset="-120"/>
              </a:rPr>
              <a:t>Iterative</a:t>
            </a:r>
            <a:endParaRPr lang="en-US" sz="1200" dirty="0"/>
          </a:p>
          <a:p>
            <a:pPr indent="0" marL="0">
              <a:buNone/>
            </a:pPr>
            <a:r>
              <a:rPr lang="en-US" sz="1200" b="1" dirty="0">
                <a:solidFill>
                  <a:srgbClr val="0891B2"/>
                </a:solidFill>
                <a:latin typeface="Georgia" pitchFamily="34" charset="0"/>
                <a:ea typeface="Georgia" pitchFamily="34" charset="-122"/>
                <a:cs typeface="Georgia" pitchFamily="34" charset="-120"/>
              </a:rPr>
              <a:t>Refinement</a:t>
            </a:r>
            <a:endParaRPr lang="en-US" sz="1200" dirty="0"/>
          </a:p>
        </p:txBody>
      </p:sp>
      <p:sp>
        <p:nvSpPr>
          <p:cNvPr id="33" name="Text 29"/>
          <p:cNvSpPr/>
          <p:nvPr/>
        </p:nvSpPr>
        <p:spPr>
          <a:xfrm>
            <a:off x="7040880" y="4114800"/>
            <a:ext cx="1645920" cy="5029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Build and improve code incrementally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1828800" cy="320040"/>
          </a:xfrm>
          <a:prstGeom prst="rect">
            <a:avLst/>
          </a:prstGeom>
          <a:noFill/>
          <a:ln/>
        </p:spPr>
        <p:txBody>
          <a:bodyPr wrap="square"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Module 2.2</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AI-Powered IDEs</a:t>
            </a:r>
            <a:endParaRPr lang="en-US" sz="3000" dirty="0"/>
          </a:p>
        </p:txBody>
      </p:sp>
      <p:sp>
        <p:nvSpPr>
          <p:cNvPr id="4" name="Text 2"/>
          <p:cNvSpPr/>
          <p:nvPr/>
        </p:nvSpPr>
        <p:spPr>
          <a:xfrm>
            <a:off x="457200" y="1051560"/>
            <a:ext cx="8229600" cy="32004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Bringing LLMs directly into your programming workflow</a:t>
            </a:r>
            <a:endParaRPr lang="en-US" sz="1300" dirty="0"/>
          </a:p>
        </p:txBody>
      </p:sp>
      <p:sp>
        <p:nvSpPr>
          <p:cNvPr id="5" name="Shape 3"/>
          <p:cNvSpPr/>
          <p:nvPr/>
        </p:nvSpPr>
        <p:spPr>
          <a:xfrm>
            <a:off x="0" y="4892040"/>
            <a:ext cx="9144000" cy="251460"/>
          </a:xfrm>
          <a:prstGeom prst="rectangle">
            <a:avLst/>
          </a:prstGeom>
          <a:solidFill>
            <a:srgbClr val="0F172A"/>
          </a:solidFill>
          <a:ln/>
        </p:spPr>
      </p:sp>
      <p:sp>
        <p:nvSpPr>
          <p:cNvPr id="6" name="Text 4"/>
          <p:cNvSpPr/>
          <p:nvPr/>
        </p:nvSpPr>
        <p:spPr>
          <a:xfrm>
            <a:off x="457200" y="4892040"/>
            <a:ext cx="8229600" cy="25146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AI for Clinical SAS Programmers  |  Training Program 2026</a:t>
            </a:r>
            <a:endParaRPr lang="en-US" sz="800" dirty="0"/>
          </a:p>
        </p:txBody>
      </p:sp>
      <p:sp>
        <p:nvSpPr>
          <p:cNvPr id="7" name="Text 5"/>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12 / 22</a:t>
            </a:r>
            <a:endParaRPr lang="en-US" sz="900" dirty="0"/>
          </a:p>
        </p:txBody>
      </p:sp>
      <p:sp>
        <p:nvSpPr>
          <p:cNvPr id="8" name="Shape 6"/>
          <p:cNvSpPr/>
          <p:nvPr/>
        </p:nvSpPr>
        <p:spPr>
          <a:xfrm>
            <a:off x="457200" y="1600200"/>
            <a:ext cx="2606040" cy="228600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57200" y="1600200"/>
            <a:ext cx="64008" cy="2286000"/>
          </a:xfrm>
          <a:prstGeom prst="rectangle">
            <a:avLst/>
          </a:prstGeom>
          <a:solidFill>
            <a:srgbClr val="0891B2"/>
          </a:solidFill>
          <a:ln/>
        </p:spPr>
      </p:sp>
      <p:sp>
        <p:nvSpPr>
          <p:cNvPr id="10" name="Text 8"/>
          <p:cNvSpPr/>
          <p:nvPr/>
        </p:nvSpPr>
        <p:spPr>
          <a:xfrm>
            <a:off x="685800" y="1737360"/>
            <a:ext cx="2148840" cy="411480"/>
          </a:xfrm>
          <a:prstGeom prst="rect">
            <a:avLst/>
          </a:prstGeom>
          <a:noFill/>
          <a:ln/>
        </p:spPr>
        <p:txBody>
          <a:bodyPr wrap="square"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Cursor</a:t>
            </a:r>
            <a:endParaRPr lang="en-US" sz="1800" dirty="0"/>
          </a:p>
        </p:txBody>
      </p:sp>
      <p:sp>
        <p:nvSpPr>
          <p:cNvPr id="11" name="Text 9"/>
          <p:cNvSpPr/>
          <p:nvPr/>
        </p:nvSpPr>
        <p:spPr>
          <a:xfrm>
            <a:off x="685800" y="2194560"/>
            <a:ext cx="2148840" cy="146304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Tab completion, inline chat, multi-file editing, .cursorrules for CDISC standards</a:t>
            </a:r>
            <a:endParaRPr lang="en-US" sz="1100" dirty="0"/>
          </a:p>
        </p:txBody>
      </p:sp>
      <p:sp>
        <p:nvSpPr>
          <p:cNvPr id="12" name="Shape 10"/>
          <p:cNvSpPr/>
          <p:nvPr/>
        </p:nvSpPr>
        <p:spPr>
          <a:xfrm>
            <a:off x="3291840" y="1600200"/>
            <a:ext cx="2606040" cy="228600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3291840" y="1600200"/>
            <a:ext cx="64008" cy="2286000"/>
          </a:xfrm>
          <a:prstGeom prst="rectangle">
            <a:avLst/>
          </a:prstGeom>
          <a:solidFill>
            <a:srgbClr val="10B981"/>
          </a:solidFill>
          <a:ln/>
        </p:spPr>
      </p:sp>
      <p:sp>
        <p:nvSpPr>
          <p:cNvPr id="14" name="Text 12"/>
          <p:cNvSpPr/>
          <p:nvPr/>
        </p:nvSpPr>
        <p:spPr>
          <a:xfrm>
            <a:off x="3520440" y="1737360"/>
            <a:ext cx="2148840" cy="411480"/>
          </a:xfrm>
          <a:prstGeom prst="rect">
            <a:avLst/>
          </a:prstGeom>
          <a:noFill/>
          <a:ln/>
        </p:spPr>
        <p:txBody>
          <a:bodyPr wrap="square"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Claude Code</a:t>
            </a:r>
            <a:endParaRPr lang="en-US" sz="1800" dirty="0"/>
          </a:p>
        </p:txBody>
      </p:sp>
      <p:sp>
        <p:nvSpPr>
          <p:cNvPr id="15" name="Text 13"/>
          <p:cNvSpPr/>
          <p:nvPr/>
        </p:nvSpPr>
        <p:spPr>
          <a:xfrm>
            <a:off x="3520440" y="2194560"/>
            <a:ext cx="2148840" cy="146304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CLI-based agentic coding, multi-step tasks, skills &amp; hooks, MCP integration for SAS</a:t>
            </a:r>
            <a:endParaRPr lang="en-US" sz="1100" dirty="0"/>
          </a:p>
        </p:txBody>
      </p:sp>
      <p:sp>
        <p:nvSpPr>
          <p:cNvPr id="16" name="Shape 14"/>
          <p:cNvSpPr/>
          <p:nvPr/>
        </p:nvSpPr>
        <p:spPr>
          <a:xfrm>
            <a:off x="6126480" y="1600200"/>
            <a:ext cx="2606040" cy="228600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17" name="Shape 15"/>
          <p:cNvSpPr/>
          <p:nvPr/>
        </p:nvSpPr>
        <p:spPr>
          <a:xfrm>
            <a:off x="6126480" y="1600200"/>
            <a:ext cx="64008" cy="2286000"/>
          </a:xfrm>
          <a:prstGeom prst="rectangle">
            <a:avLst/>
          </a:prstGeom>
          <a:solidFill>
            <a:srgbClr val="8B5CF6"/>
          </a:solidFill>
          <a:ln/>
        </p:spPr>
      </p:sp>
      <p:sp>
        <p:nvSpPr>
          <p:cNvPr id="18" name="Text 16"/>
          <p:cNvSpPr/>
          <p:nvPr/>
        </p:nvSpPr>
        <p:spPr>
          <a:xfrm>
            <a:off x="6355080" y="1737360"/>
            <a:ext cx="2148840" cy="411480"/>
          </a:xfrm>
          <a:prstGeom prst="rect">
            <a:avLst/>
          </a:prstGeom>
          <a:noFill/>
          <a:ln/>
        </p:spPr>
        <p:txBody>
          <a:bodyPr wrap="square"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GitHub Copilot</a:t>
            </a:r>
            <a:endParaRPr lang="en-US" sz="1800" dirty="0"/>
          </a:p>
        </p:txBody>
      </p:sp>
      <p:sp>
        <p:nvSpPr>
          <p:cNvPr id="19" name="Text 17"/>
          <p:cNvSpPr/>
          <p:nvPr/>
        </p:nvSpPr>
        <p:spPr>
          <a:xfrm>
            <a:off x="6355080" y="2194560"/>
            <a:ext cx="2148840" cy="146304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Inline suggestions, chat features, broad language support, comparison baseline</a:t>
            </a:r>
            <a:endParaRPr lang="en-US" sz="1100" dirty="0"/>
          </a:p>
        </p:txBody>
      </p:sp>
      <p:sp>
        <p:nvSpPr>
          <p:cNvPr id="20" name="Shape 18"/>
          <p:cNvSpPr/>
          <p:nvPr/>
        </p:nvSpPr>
        <p:spPr>
          <a:xfrm>
            <a:off x="457200" y="4160520"/>
            <a:ext cx="8229600" cy="548640"/>
          </a:xfrm>
          <a:prstGeom prst="rectangle">
            <a:avLst/>
          </a:prstGeom>
          <a:solidFill>
            <a:srgbClr val="ECFDF5"/>
          </a:solidFill>
          <a:ln/>
        </p:spPr>
      </p:sp>
      <p:pic>
        <p:nvPicPr>
          <p:cNvPr id="21" name="Image 0" descr="preencoded.png"/>
          <p:cNvPicPr>
            <a:picLocks noChangeAspect="1"/>
          </p:cNvPicPr>
          <p:nvPr/>
        </p:nvPicPr>
        <p:blipFill>
          <a:blip r:embed="rId1"/>
          <a:stretch>
            <a:fillRect/>
          </a:stretch>
        </p:blipFill>
        <p:spPr>
          <a:xfrm>
            <a:off x="594360" y="4233672"/>
            <a:ext cx="320040" cy="320040"/>
          </a:xfrm>
          <a:prstGeom prst="rect">
            <a:avLst/>
          </a:prstGeom>
        </p:spPr>
      </p:pic>
      <p:sp>
        <p:nvSpPr>
          <p:cNvPr id="22" name="Text 19"/>
          <p:cNvSpPr/>
          <p:nvPr/>
        </p:nvSpPr>
        <p:spPr>
          <a:xfrm>
            <a:off x="1005840" y="4160520"/>
            <a:ext cx="7498080" cy="548640"/>
          </a:xfrm>
          <a:prstGeom prst="rect">
            <a:avLst/>
          </a:prstGeom>
          <a:noFill/>
          <a:ln/>
        </p:spPr>
        <p:txBody>
          <a:bodyPr wrap="square"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Hands-On: Set up Cursor with .cursorrules for CDISC. Use Claude Code to generate a complete DM domain program from a spec.</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1828800" cy="320040"/>
          </a:xfrm>
          <a:prstGeom prst="rect">
            <a:avLst/>
          </a:prstGeom>
          <a:noFill/>
          <a:ln/>
        </p:spPr>
        <p:txBody>
          <a:bodyPr wrap="square"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Module 2.3</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RAG, Vector Databases &amp; MCP</a:t>
            </a:r>
            <a:endParaRPr lang="en-US" sz="2800" dirty="0"/>
          </a:p>
        </p:txBody>
      </p:sp>
      <p:sp>
        <p:nvSpPr>
          <p:cNvPr id="4" name="Text 2"/>
          <p:cNvSpPr/>
          <p:nvPr/>
        </p:nvSpPr>
        <p:spPr>
          <a:xfrm>
            <a:off x="457200" y="1051560"/>
            <a:ext cx="8229600" cy="32004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The infrastructure that makes AI tools useful for clinical programming</a:t>
            </a:r>
            <a:endParaRPr lang="en-US" sz="1300" dirty="0"/>
          </a:p>
        </p:txBody>
      </p:sp>
      <p:sp>
        <p:nvSpPr>
          <p:cNvPr id="5" name="Shape 3"/>
          <p:cNvSpPr/>
          <p:nvPr/>
        </p:nvSpPr>
        <p:spPr>
          <a:xfrm>
            <a:off x="0" y="4892040"/>
            <a:ext cx="9144000" cy="251460"/>
          </a:xfrm>
          <a:prstGeom prst="rectangle">
            <a:avLst/>
          </a:prstGeom>
          <a:solidFill>
            <a:srgbClr val="0F172A"/>
          </a:solidFill>
          <a:ln/>
        </p:spPr>
      </p:sp>
      <p:sp>
        <p:nvSpPr>
          <p:cNvPr id="6" name="Text 4"/>
          <p:cNvSpPr/>
          <p:nvPr/>
        </p:nvSpPr>
        <p:spPr>
          <a:xfrm>
            <a:off x="457200" y="4892040"/>
            <a:ext cx="8229600" cy="25146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AI for Clinical SAS Programmers  |  Training Program 2026</a:t>
            </a:r>
            <a:endParaRPr lang="en-US" sz="800" dirty="0"/>
          </a:p>
        </p:txBody>
      </p:sp>
      <p:sp>
        <p:nvSpPr>
          <p:cNvPr id="7" name="Text 5"/>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13 / 22</a:t>
            </a:r>
            <a:endParaRPr lang="en-US" sz="900" dirty="0"/>
          </a:p>
        </p:txBody>
      </p:sp>
      <p:sp>
        <p:nvSpPr>
          <p:cNvPr id="8" name="Shape 6"/>
          <p:cNvSpPr/>
          <p:nvPr/>
        </p:nvSpPr>
        <p:spPr>
          <a:xfrm>
            <a:off x="548640" y="1600200"/>
            <a:ext cx="1828800" cy="1463040"/>
          </a:xfrm>
          <a:prstGeom prst="rectangle">
            <a:avLst/>
          </a:prstGeom>
          <a:solidFill>
            <a:srgbClr val="FFFFFF"/>
          </a:solidFill>
          <a:ln/>
          <a:effectLst>
            <a:outerShdw sx="100000" sy="100000" kx="0" ky="0" algn="bl" rotWithShape="0" blurRad="76200" dist="25400" dir="8100000">
              <a:srgbClr val="000000">
                <a:alpha val="12000"/>
              </a:srgbClr>
            </a:outerShdw>
          </a:effectLst>
        </p:spPr>
      </p:sp>
      <p:pic>
        <p:nvPicPr>
          <p:cNvPr id="9" name="Image 0" descr="preencoded.png"/>
          <p:cNvPicPr>
            <a:picLocks noChangeAspect="1"/>
          </p:cNvPicPr>
          <p:nvPr/>
        </p:nvPicPr>
        <p:blipFill>
          <a:blip r:embed="rId1"/>
          <a:stretch>
            <a:fillRect/>
          </a:stretch>
        </p:blipFill>
        <p:spPr>
          <a:xfrm>
            <a:off x="1234440" y="1737360"/>
            <a:ext cx="457200" cy="457200"/>
          </a:xfrm>
          <a:prstGeom prst="rect">
            <a:avLst/>
          </a:prstGeom>
        </p:spPr>
      </p:pic>
      <p:sp>
        <p:nvSpPr>
          <p:cNvPr id="10" name="Text 7"/>
          <p:cNvSpPr/>
          <p:nvPr/>
        </p:nvSpPr>
        <p:spPr>
          <a:xfrm>
            <a:off x="640080" y="2286000"/>
            <a:ext cx="1645920" cy="640080"/>
          </a:xfrm>
          <a:prstGeom prst="rect">
            <a:avLst/>
          </a:prstGeom>
          <a:noFill/>
          <a:ln/>
        </p:spPr>
        <p:txBody>
          <a:bodyPr wrap="square"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SDTM IG</a:t>
            </a:r>
            <a:endParaRPr lang="en-US" sz="1100" dirty="0"/>
          </a:p>
          <a:p>
            <a:pPr algn="ctr" indent="0" marL="0">
              <a:buNone/>
            </a:pPr>
            <a:r>
              <a:rPr lang="en-US" sz="1100" b="1" dirty="0">
                <a:solidFill>
                  <a:srgbClr val="1E293B"/>
                </a:solidFill>
                <a:latin typeface="Calibri" pitchFamily="34" charset="0"/>
                <a:ea typeface="Calibri" pitchFamily="34" charset="-122"/>
                <a:cs typeface="Calibri" pitchFamily="34" charset="-120"/>
              </a:rPr>
              <a:t>+ CT Docs</a:t>
            </a:r>
            <a:endParaRPr lang="en-US" sz="1100" dirty="0"/>
          </a:p>
        </p:txBody>
      </p:sp>
      <p:pic>
        <p:nvPicPr>
          <p:cNvPr id="11" name="Image 1" descr="preencoded.png"/>
          <p:cNvPicPr>
            <a:picLocks noChangeAspect="1"/>
          </p:cNvPicPr>
          <p:nvPr/>
        </p:nvPicPr>
        <p:blipFill>
          <a:blip r:embed="rId2"/>
          <a:stretch>
            <a:fillRect/>
          </a:stretch>
        </p:blipFill>
        <p:spPr>
          <a:xfrm>
            <a:off x="2423160" y="2148840"/>
            <a:ext cx="274320" cy="274320"/>
          </a:xfrm>
          <a:prstGeom prst="rect">
            <a:avLst/>
          </a:prstGeom>
        </p:spPr>
      </p:pic>
      <p:sp>
        <p:nvSpPr>
          <p:cNvPr id="12" name="Shape 8"/>
          <p:cNvSpPr/>
          <p:nvPr/>
        </p:nvSpPr>
        <p:spPr>
          <a:xfrm>
            <a:off x="2743200" y="1600200"/>
            <a:ext cx="1828800" cy="1463040"/>
          </a:xfrm>
          <a:prstGeom prst="rectangle">
            <a:avLst/>
          </a:prstGeom>
          <a:solidFill>
            <a:srgbClr val="FFFFFF"/>
          </a:solidFill>
          <a:ln/>
          <a:effectLst>
            <a:outerShdw sx="100000" sy="100000" kx="0" ky="0" algn="bl" rotWithShape="0" blurRad="76200" dist="25400" dir="8100000">
              <a:srgbClr val="000000">
                <a:alpha val="12000"/>
              </a:srgbClr>
            </a:outerShdw>
          </a:effectLst>
        </p:spPr>
      </p:sp>
      <p:pic>
        <p:nvPicPr>
          <p:cNvPr id="13" name="Image 2" descr="preencoded.png"/>
          <p:cNvPicPr>
            <a:picLocks noChangeAspect="1"/>
          </p:cNvPicPr>
          <p:nvPr/>
        </p:nvPicPr>
        <p:blipFill>
          <a:blip r:embed="rId3"/>
          <a:stretch>
            <a:fillRect/>
          </a:stretch>
        </p:blipFill>
        <p:spPr>
          <a:xfrm>
            <a:off x="3429000" y="1737360"/>
            <a:ext cx="457200" cy="457200"/>
          </a:xfrm>
          <a:prstGeom prst="rect">
            <a:avLst/>
          </a:prstGeom>
        </p:spPr>
      </p:pic>
      <p:sp>
        <p:nvSpPr>
          <p:cNvPr id="14" name="Text 9"/>
          <p:cNvSpPr/>
          <p:nvPr/>
        </p:nvSpPr>
        <p:spPr>
          <a:xfrm>
            <a:off x="2834640" y="2286000"/>
            <a:ext cx="1645920" cy="640080"/>
          </a:xfrm>
          <a:prstGeom prst="rect">
            <a:avLst/>
          </a:prstGeom>
          <a:noFill/>
          <a:ln/>
        </p:spPr>
        <p:txBody>
          <a:bodyPr wrap="square"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Embed into</a:t>
            </a:r>
            <a:endParaRPr lang="en-US" sz="1100" dirty="0"/>
          </a:p>
          <a:p>
            <a:pPr algn="ctr" indent="0" marL="0">
              <a:buNone/>
            </a:pPr>
            <a:r>
              <a:rPr lang="en-US" sz="1100" b="1" dirty="0">
                <a:solidFill>
                  <a:srgbClr val="1E293B"/>
                </a:solidFill>
                <a:latin typeface="Calibri" pitchFamily="34" charset="0"/>
                <a:ea typeface="Calibri" pitchFamily="34" charset="-122"/>
                <a:cs typeface="Calibri" pitchFamily="34" charset="-120"/>
              </a:rPr>
              <a:t>Vector DB</a:t>
            </a:r>
            <a:endParaRPr lang="en-US" sz="1100" dirty="0"/>
          </a:p>
        </p:txBody>
      </p:sp>
      <p:pic>
        <p:nvPicPr>
          <p:cNvPr id="15" name="Image 3" descr="preencoded.png"/>
          <p:cNvPicPr>
            <a:picLocks noChangeAspect="1"/>
          </p:cNvPicPr>
          <p:nvPr/>
        </p:nvPicPr>
        <p:blipFill>
          <a:blip r:embed="rId4"/>
          <a:stretch>
            <a:fillRect/>
          </a:stretch>
        </p:blipFill>
        <p:spPr>
          <a:xfrm>
            <a:off x="4617720" y="2148840"/>
            <a:ext cx="274320" cy="274320"/>
          </a:xfrm>
          <a:prstGeom prst="rect">
            <a:avLst/>
          </a:prstGeom>
        </p:spPr>
      </p:pic>
      <p:sp>
        <p:nvSpPr>
          <p:cNvPr id="16" name="Shape 10"/>
          <p:cNvSpPr/>
          <p:nvPr/>
        </p:nvSpPr>
        <p:spPr>
          <a:xfrm>
            <a:off x="4937760" y="1600200"/>
            <a:ext cx="1828800" cy="1463040"/>
          </a:xfrm>
          <a:prstGeom prst="rectangle">
            <a:avLst/>
          </a:prstGeom>
          <a:solidFill>
            <a:srgbClr val="FFFFFF"/>
          </a:solidFill>
          <a:ln/>
          <a:effectLst>
            <a:outerShdw sx="100000" sy="100000" kx="0" ky="0" algn="bl" rotWithShape="0" blurRad="76200" dist="25400" dir="8100000">
              <a:srgbClr val="000000">
                <a:alpha val="12000"/>
              </a:srgbClr>
            </a:outerShdw>
          </a:effectLst>
        </p:spPr>
      </p:sp>
      <p:pic>
        <p:nvPicPr>
          <p:cNvPr id="17" name="Image 4" descr="preencoded.png"/>
          <p:cNvPicPr>
            <a:picLocks noChangeAspect="1"/>
          </p:cNvPicPr>
          <p:nvPr/>
        </p:nvPicPr>
        <p:blipFill>
          <a:blip r:embed="rId5"/>
          <a:stretch>
            <a:fillRect/>
          </a:stretch>
        </p:blipFill>
        <p:spPr>
          <a:xfrm>
            <a:off x="5623560" y="1737360"/>
            <a:ext cx="457200" cy="457200"/>
          </a:xfrm>
          <a:prstGeom prst="rect">
            <a:avLst/>
          </a:prstGeom>
        </p:spPr>
      </p:pic>
      <p:sp>
        <p:nvSpPr>
          <p:cNvPr id="18" name="Text 11"/>
          <p:cNvSpPr/>
          <p:nvPr/>
        </p:nvSpPr>
        <p:spPr>
          <a:xfrm>
            <a:off x="5029200" y="2286000"/>
            <a:ext cx="1645920" cy="640080"/>
          </a:xfrm>
          <a:prstGeom prst="rect">
            <a:avLst/>
          </a:prstGeom>
          <a:noFill/>
          <a:ln/>
        </p:spPr>
        <p:txBody>
          <a:bodyPr wrap="square"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Query with</a:t>
            </a:r>
            <a:endParaRPr lang="en-US" sz="1100" dirty="0"/>
          </a:p>
          <a:p>
            <a:pPr algn="ctr" indent="0" marL="0">
              <a:buNone/>
            </a:pPr>
            <a:r>
              <a:rPr lang="en-US" sz="1100" b="1" dirty="0">
                <a:solidFill>
                  <a:srgbClr val="1E293B"/>
                </a:solidFill>
                <a:latin typeface="Calibri" pitchFamily="34" charset="0"/>
                <a:ea typeface="Calibri" pitchFamily="34" charset="-122"/>
                <a:cs typeface="Calibri" pitchFamily="34" charset="-120"/>
              </a:rPr>
              <a:t>LLM</a:t>
            </a:r>
            <a:endParaRPr lang="en-US" sz="1100" dirty="0"/>
          </a:p>
        </p:txBody>
      </p:sp>
      <p:pic>
        <p:nvPicPr>
          <p:cNvPr id="19" name="Image 5" descr="preencoded.png"/>
          <p:cNvPicPr>
            <a:picLocks noChangeAspect="1"/>
          </p:cNvPicPr>
          <p:nvPr/>
        </p:nvPicPr>
        <p:blipFill>
          <a:blip r:embed="rId6"/>
          <a:stretch>
            <a:fillRect/>
          </a:stretch>
        </p:blipFill>
        <p:spPr>
          <a:xfrm>
            <a:off x="6812280" y="2148840"/>
            <a:ext cx="274320" cy="274320"/>
          </a:xfrm>
          <a:prstGeom prst="rect">
            <a:avLst/>
          </a:prstGeom>
        </p:spPr>
      </p:pic>
      <p:sp>
        <p:nvSpPr>
          <p:cNvPr id="20" name="Shape 12"/>
          <p:cNvSpPr/>
          <p:nvPr/>
        </p:nvSpPr>
        <p:spPr>
          <a:xfrm>
            <a:off x="7132320" y="1600200"/>
            <a:ext cx="1828800" cy="1463040"/>
          </a:xfrm>
          <a:prstGeom prst="rectangle">
            <a:avLst/>
          </a:prstGeom>
          <a:solidFill>
            <a:srgbClr val="FFFFFF"/>
          </a:solidFill>
          <a:ln/>
          <a:effectLst>
            <a:outerShdw sx="100000" sy="100000" kx="0" ky="0" algn="bl" rotWithShape="0" blurRad="76200" dist="25400" dir="8100000">
              <a:srgbClr val="000000">
                <a:alpha val="12000"/>
              </a:srgbClr>
            </a:outerShdw>
          </a:effectLst>
        </p:spPr>
      </p:sp>
      <p:pic>
        <p:nvPicPr>
          <p:cNvPr id="21" name="Image 6" descr="preencoded.png"/>
          <p:cNvPicPr>
            <a:picLocks noChangeAspect="1"/>
          </p:cNvPicPr>
          <p:nvPr/>
        </p:nvPicPr>
        <p:blipFill>
          <a:blip r:embed="rId7"/>
          <a:stretch>
            <a:fillRect/>
          </a:stretch>
        </p:blipFill>
        <p:spPr>
          <a:xfrm>
            <a:off x="7818120" y="1737360"/>
            <a:ext cx="457200" cy="457200"/>
          </a:xfrm>
          <a:prstGeom prst="rect">
            <a:avLst/>
          </a:prstGeom>
        </p:spPr>
      </p:pic>
      <p:sp>
        <p:nvSpPr>
          <p:cNvPr id="22" name="Text 13"/>
          <p:cNvSpPr/>
          <p:nvPr/>
        </p:nvSpPr>
        <p:spPr>
          <a:xfrm>
            <a:off x="7223760" y="2286000"/>
            <a:ext cx="1645920" cy="640080"/>
          </a:xfrm>
          <a:prstGeom prst="rect">
            <a:avLst/>
          </a:prstGeom>
          <a:noFill/>
          <a:ln/>
        </p:spPr>
        <p:txBody>
          <a:bodyPr wrap="square"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Return</a:t>
            </a:r>
            <a:endParaRPr lang="en-US" sz="1100" dirty="0"/>
          </a:p>
          <a:p>
            <a:pPr algn="ctr" indent="0" marL="0">
              <a:buNone/>
            </a:pPr>
            <a:r>
              <a:rPr lang="en-US" sz="1100" b="1" dirty="0">
                <a:solidFill>
                  <a:srgbClr val="1E293B"/>
                </a:solidFill>
                <a:latin typeface="Calibri" pitchFamily="34" charset="0"/>
                <a:ea typeface="Calibri" pitchFamily="34" charset="-122"/>
                <a:cs typeface="Calibri" pitchFamily="34" charset="-120"/>
              </a:rPr>
              <a:t>Mappings</a:t>
            </a:r>
            <a:endParaRPr lang="en-US" sz="1100" dirty="0"/>
          </a:p>
        </p:txBody>
      </p:sp>
      <p:sp>
        <p:nvSpPr>
          <p:cNvPr id="23" name="Shape 14"/>
          <p:cNvSpPr/>
          <p:nvPr/>
        </p:nvSpPr>
        <p:spPr>
          <a:xfrm>
            <a:off x="457200" y="3337560"/>
            <a:ext cx="8229600" cy="137160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24" name="Shape 15"/>
          <p:cNvSpPr/>
          <p:nvPr/>
        </p:nvSpPr>
        <p:spPr>
          <a:xfrm>
            <a:off x="457200" y="3337560"/>
            <a:ext cx="64008" cy="1371600"/>
          </a:xfrm>
          <a:prstGeom prst="rectangle">
            <a:avLst/>
          </a:prstGeom>
          <a:solidFill>
            <a:srgbClr val="10B981"/>
          </a:solidFill>
          <a:ln/>
        </p:spPr>
      </p:sp>
      <p:sp>
        <p:nvSpPr>
          <p:cNvPr id="25" name="Text 16"/>
          <p:cNvSpPr/>
          <p:nvPr/>
        </p:nvSpPr>
        <p:spPr>
          <a:xfrm>
            <a:off x="731520" y="3429000"/>
            <a:ext cx="3657600" cy="365760"/>
          </a:xfrm>
          <a:prstGeom prst="rect">
            <a:avLst/>
          </a:prstGeom>
          <a:noFill/>
          <a:ln/>
        </p:spPr>
        <p:txBody>
          <a:bodyPr wrap="square" rtlCol="0" anchor="ctr"/>
          <a:lstStyle/>
          <a:p>
            <a:pPr indent="0" marL="0">
              <a:buNone/>
            </a:pPr>
            <a:r>
              <a:rPr lang="en-US" sz="1500" b="1" dirty="0">
                <a:solidFill>
                  <a:srgbClr val="0F172A"/>
                </a:solidFill>
                <a:latin typeface="Georgia" pitchFamily="34" charset="0"/>
                <a:ea typeface="Georgia" pitchFamily="34" charset="-122"/>
                <a:cs typeface="Georgia" pitchFamily="34" charset="-120"/>
              </a:rPr>
              <a:t>Model Context Protocol (MCP)</a:t>
            </a:r>
            <a:endParaRPr lang="en-US" sz="1500" dirty="0"/>
          </a:p>
        </p:txBody>
      </p:sp>
      <p:sp>
        <p:nvSpPr>
          <p:cNvPr id="26" name="Text 17"/>
          <p:cNvSpPr/>
          <p:nvPr/>
        </p:nvSpPr>
        <p:spPr>
          <a:xfrm>
            <a:off x="731520" y="3794760"/>
            <a:ext cx="4114800" cy="77724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MCP creates agents that can access documents, databases, and SAS environments. Build servers that give your LLM access to annotated CRFs, raw data for profiling, and SAS execution for running programs.</a:t>
            </a:r>
            <a:endParaRPr lang="en-US" sz="1100" dirty="0"/>
          </a:p>
        </p:txBody>
      </p:sp>
      <p:sp>
        <p:nvSpPr>
          <p:cNvPr id="27" name="Shape 18"/>
          <p:cNvSpPr/>
          <p:nvPr/>
        </p:nvSpPr>
        <p:spPr>
          <a:xfrm>
            <a:off x="5120640" y="3429000"/>
            <a:ext cx="3383280" cy="1143000"/>
          </a:xfrm>
          <a:prstGeom prst="rectangle">
            <a:avLst/>
          </a:prstGeom>
          <a:solidFill>
            <a:srgbClr val="F0FDFA"/>
          </a:solidFill>
          <a:ln w="19050">
            <a:solidFill>
              <a:srgbClr val="0891B2"/>
            </a:solidFill>
            <a:prstDash val="solid"/>
          </a:ln>
        </p:spPr>
      </p:sp>
      <p:sp>
        <p:nvSpPr>
          <p:cNvPr id="28" name="Text 19"/>
          <p:cNvSpPr/>
          <p:nvPr/>
        </p:nvSpPr>
        <p:spPr>
          <a:xfrm>
            <a:off x="5303520" y="3474720"/>
            <a:ext cx="3017520" cy="274320"/>
          </a:xfrm>
          <a:prstGeom prst="rect">
            <a:avLst/>
          </a:prstGeom>
          <a:noFill/>
          <a:ln/>
        </p:spPr>
        <p:txBody>
          <a:bodyPr wrap="square" rtlCol="0" anchor="ctr"/>
          <a:lstStyle/>
          <a:p>
            <a:pPr indent="0" marL="0">
              <a:buNone/>
            </a:pPr>
            <a:r>
              <a:rPr lang="en-US" sz="1000" b="1" dirty="0">
                <a:solidFill>
                  <a:srgbClr val="0891B2"/>
                </a:solidFill>
                <a:latin typeface="Calibri" pitchFamily="34" charset="0"/>
                <a:ea typeface="Calibri" pitchFamily="34" charset="-122"/>
                <a:cs typeface="Calibri" pitchFamily="34" charset="-120"/>
              </a:rPr>
              <a:t>Example RAG Query</a:t>
            </a:r>
            <a:endParaRPr lang="en-US" sz="1000" dirty="0"/>
          </a:p>
        </p:txBody>
      </p:sp>
      <p:sp>
        <p:nvSpPr>
          <p:cNvPr id="29" name="Text 20"/>
          <p:cNvSpPr/>
          <p:nvPr/>
        </p:nvSpPr>
        <p:spPr>
          <a:xfrm>
            <a:off x="5303520" y="3749040"/>
            <a:ext cx="3017520" cy="731520"/>
          </a:xfrm>
          <a:prstGeom prst="rect">
            <a:avLst/>
          </a:prstGeom>
          <a:noFill/>
          <a:ln/>
        </p:spPr>
        <p:txBody>
          <a:bodyPr wrap="square" rtlCol="0" anchor="ctr"/>
          <a:lstStyle/>
          <a:p>
            <a:pPr indent="0" marL="0">
              <a:buNone/>
            </a:pPr>
            <a:r>
              <a:rPr lang="en-US" sz="1100" dirty="0">
                <a:solidFill>
                  <a:srgbClr val="1E293B"/>
                </a:solidFill>
                <a:latin typeface="Consolas" pitchFamily="34" charset="0"/>
                <a:ea typeface="Consolas" pitchFamily="34" charset="-122"/>
                <a:cs typeface="Consolas" pitchFamily="34" charset="-120"/>
              </a:rPr>
              <a:t>Input: SEX = "Male", "Female"</a:t>
            </a:r>
            <a:endParaRPr lang="en-US" sz="1100" dirty="0"/>
          </a:p>
          <a:p>
            <a:pPr indent="0" marL="0">
              <a:buNone/>
            </a:pPr>
            <a:r>
              <a:rPr lang="en-US" sz="1100" dirty="0">
                <a:solidFill>
                  <a:srgbClr val="1E293B"/>
                </a:solidFill>
                <a:latin typeface="Consolas" pitchFamily="34" charset="0"/>
                <a:ea typeface="Consolas" pitchFamily="34" charset="-122"/>
                <a:cs typeface="Consolas" pitchFamily="34" charset="-120"/>
              </a:rPr>
              <a:t>Output: Codelist C66731</a:t>
            </a:r>
            <a:endParaRPr lang="en-US" sz="1100" dirty="0"/>
          </a:p>
          <a:p>
            <a:pPr indent="0" marL="0">
              <a:buNone/>
            </a:pPr>
            <a:r>
              <a:rPr lang="en-US" sz="1100" dirty="0">
                <a:solidFill>
                  <a:srgbClr val="1E293B"/>
                </a:solidFill>
                <a:latin typeface="Consolas" pitchFamily="34" charset="0"/>
                <a:ea typeface="Consolas" pitchFamily="34" charset="-122"/>
                <a:cs typeface="Consolas" pitchFamily="34" charset="-120"/>
              </a:rPr>
              <a:t>Mapped: "M", "F"</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2011680"/>
            <a:ext cx="9144000" cy="1097280"/>
          </a:xfrm>
          <a:prstGeom prst="rectangle">
            <a:avLst/>
          </a:prstGeom>
          <a:solidFill>
            <a:srgbClr val="0891B2">
              <a:alpha val="15000"/>
            </a:srgbClr>
          </a:solidFill>
          <a:ln/>
        </p:spPr>
      </p:sp>
      <p:sp>
        <p:nvSpPr>
          <p:cNvPr id="3" name="Text 1"/>
          <p:cNvSpPr/>
          <p:nvPr/>
        </p:nvSpPr>
        <p:spPr>
          <a:xfrm>
            <a:off x="731520" y="1371600"/>
            <a:ext cx="7680960" cy="640080"/>
          </a:xfrm>
          <a:prstGeom prst="rect">
            <a:avLst/>
          </a:prstGeom>
          <a:noFill/>
          <a:ln/>
        </p:spPr>
        <p:txBody>
          <a:bodyPr wrap="square" rtlCol="0" anchor="ctr"/>
          <a:lstStyle/>
          <a:p>
            <a:pPr algn="ctr" indent="0" marL="0">
              <a:buNone/>
            </a:pPr>
            <a:r>
              <a:rPr lang="en-US" sz="1800" i="1" dirty="0">
                <a:solidFill>
                  <a:srgbClr val="94A3B8"/>
                </a:solidFill>
                <a:latin typeface="Calibri" pitchFamily="34" charset="0"/>
                <a:ea typeface="Calibri" pitchFamily="34" charset="-122"/>
                <a:cs typeface="Calibri" pitchFamily="34" charset="-120"/>
              </a:rPr>
              <a:t>You now know how to use AI tools individually...</a:t>
            </a:r>
            <a:endParaRPr lang="en-US" sz="1800" dirty="0"/>
          </a:p>
        </p:txBody>
      </p:sp>
      <p:sp>
        <p:nvSpPr>
          <p:cNvPr id="4" name="Text 2"/>
          <p:cNvSpPr/>
          <p:nvPr/>
        </p:nvSpPr>
        <p:spPr>
          <a:xfrm>
            <a:off x="731520" y="2103120"/>
            <a:ext cx="7680960" cy="45720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Let's orchestrate them into a pipeline</a:t>
            </a:r>
            <a:endParaRPr lang="en-US" sz="2200" dirty="0"/>
          </a:p>
        </p:txBody>
      </p:sp>
      <p:sp>
        <p:nvSpPr>
          <p:cNvPr id="5" name="Text 3"/>
          <p:cNvSpPr/>
          <p:nvPr/>
        </p:nvSpPr>
        <p:spPr>
          <a:xfrm>
            <a:off x="731520" y="2560320"/>
            <a:ext cx="7680960" cy="457200"/>
          </a:xfrm>
          <a:prstGeom prst="rect">
            <a:avLst/>
          </a:prstGeom>
          <a:noFill/>
          <a:ln/>
        </p:spPr>
        <p:txBody>
          <a:bodyPr wrap="square" rtlCol="0" anchor="ctr"/>
          <a:lstStyle/>
          <a:p>
            <a:pPr algn="ctr" indent="0" marL="0">
              <a:buNone/>
            </a:pPr>
            <a:r>
              <a:rPr lang="en-US" sz="1500" dirty="0">
                <a:solidFill>
                  <a:srgbClr val="06B6D4"/>
                </a:solidFill>
                <a:latin typeface="Calibri" pitchFamily="34" charset="0"/>
                <a:ea typeface="Calibri" pitchFamily="34" charset="-122"/>
                <a:cs typeface="Calibri" pitchFamily="34" charset="-120"/>
              </a:rPr>
              <a:t>Replicating the entire SDTM double-programming workflow with AI agents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angle">
            <a:avLst/>
          </a:prstGeom>
          <a:solidFill>
            <a:srgbClr val="0891B2"/>
          </a:solidFill>
          <a:ln/>
        </p:spPr>
      </p:sp>
      <p:sp>
        <p:nvSpPr>
          <p:cNvPr id="3" name="Text 1"/>
          <p:cNvSpPr/>
          <p:nvPr/>
        </p:nvSpPr>
        <p:spPr>
          <a:xfrm>
            <a:off x="640080" y="1280160"/>
            <a:ext cx="7315200" cy="548640"/>
          </a:xfrm>
          <a:prstGeom prst="rect">
            <a:avLst/>
          </a:prstGeom>
          <a:noFill/>
          <a:ln/>
        </p:spPr>
        <p:txBody>
          <a:bodyPr wrap="square" rtlCol="0" anchor="ctr"/>
          <a:lstStyle/>
          <a:p>
            <a:pPr indent="0" marL="0">
              <a:buNone/>
            </a:pPr>
            <a:r>
              <a:rPr lang="en-US" sz="1600" b="1" spc="600" kern="0" dirty="0">
                <a:solidFill>
                  <a:srgbClr val="06B6D4"/>
                </a:solidFill>
                <a:latin typeface="Calibri" pitchFamily="34" charset="0"/>
                <a:ea typeface="Calibri" pitchFamily="34" charset="-122"/>
                <a:cs typeface="Calibri" pitchFamily="34" charset="-120"/>
              </a:rPr>
              <a:t>PHASE 3</a:t>
            </a:r>
            <a:endParaRPr lang="en-US" sz="1600" dirty="0"/>
          </a:p>
        </p:txBody>
      </p:sp>
      <p:sp>
        <p:nvSpPr>
          <p:cNvPr id="4" name="Text 2"/>
          <p:cNvSpPr/>
          <p:nvPr/>
        </p:nvSpPr>
        <p:spPr>
          <a:xfrm>
            <a:off x="640080" y="1828800"/>
            <a:ext cx="7772400" cy="91440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Agentic SDTM Automation</a:t>
            </a:r>
            <a:endParaRPr lang="en-US" sz="4000" dirty="0"/>
          </a:p>
        </p:txBody>
      </p:sp>
      <p:sp>
        <p:nvSpPr>
          <p:cNvPr id="5" name="Text 3"/>
          <p:cNvSpPr/>
          <p:nvPr/>
        </p:nvSpPr>
        <p:spPr>
          <a:xfrm>
            <a:off x="640080" y="2834640"/>
            <a:ext cx="7315200" cy="73152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Multi-agent orchestration mirroring the real-world double-programming workflow</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1828800" cy="320040"/>
          </a:xfrm>
          <a:prstGeom prst="rect">
            <a:avLst/>
          </a:prstGeom>
          <a:noFill/>
          <a:ln/>
        </p:spPr>
        <p:txBody>
          <a:bodyPr wrap="square"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Module 3.1</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The Manual SDTM Workflow</a:t>
            </a:r>
            <a:endParaRPr lang="en-US" sz="2800" dirty="0"/>
          </a:p>
        </p:txBody>
      </p:sp>
      <p:sp>
        <p:nvSpPr>
          <p:cNvPr id="4" name="Text 2"/>
          <p:cNvSpPr/>
          <p:nvPr/>
        </p:nvSpPr>
        <p:spPr>
          <a:xfrm>
            <a:off x="457200" y="1051560"/>
            <a:ext cx="8229600" cy="27432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What we are automating</a:t>
            </a:r>
            <a:endParaRPr lang="en-US" sz="1300" dirty="0"/>
          </a:p>
        </p:txBody>
      </p:sp>
      <p:sp>
        <p:nvSpPr>
          <p:cNvPr id="5" name="Shape 3"/>
          <p:cNvSpPr/>
          <p:nvPr/>
        </p:nvSpPr>
        <p:spPr>
          <a:xfrm>
            <a:off x="0" y="4892040"/>
            <a:ext cx="9144000" cy="251460"/>
          </a:xfrm>
          <a:prstGeom prst="rectangle">
            <a:avLst/>
          </a:prstGeom>
          <a:solidFill>
            <a:srgbClr val="0F172A"/>
          </a:solidFill>
          <a:ln/>
        </p:spPr>
      </p:sp>
      <p:sp>
        <p:nvSpPr>
          <p:cNvPr id="6" name="Text 4"/>
          <p:cNvSpPr/>
          <p:nvPr/>
        </p:nvSpPr>
        <p:spPr>
          <a:xfrm>
            <a:off x="457200" y="4892040"/>
            <a:ext cx="8229600" cy="25146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AI for Clinical SAS Programmers  |  Training Program 2026</a:t>
            </a:r>
            <a:endParaRPr lang="en-US" sz="800" dirty="0"/>
          </a:p>
        </p:txBody>
      </p:sp>
      <p:sp>
        <p:nvSpPr>
          <p:cNvPr id="7" name="Text 5"/>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16 / 22</a:t>
            </a:r>
            <a:endParaRPr lang="en-US" sz="900" dirty="0"/>
          </a:p>
        </p:txBody>
      </p:sp>
      <p:sp>
        <p:nvSpPr>
          <p:cNvPr id="8" name="Shape 6"/>
          <p:cNvSpPr/>
          <p:nvPr/>
        </p:nvSpPr>
        <p:spPr>
          <a:xfrm>
            <a:off x="457200" y="1554480"/>
            <a:ext cx="4023360" cy="59436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57200" y="1554480"/>
            <a:ext cx="54864" cy="594360"/>
          </a:xfrm>
          <a:prstGeom prst="rectangle">
            <a:avLst/>
          </a:prstGeom>
          <a:solidFill>
            <a:srgbClr val="0891B2"/>
          </a:solidFill>
          <a:ln/>
        </p:spPr>
      </p:sp>
      <p:sp>
        <p:nvSpPr>
          <p:cNvPr id="10" name="Shape 8"/>
          <p:cNvSpPr/>
          <p:nvPr/>
        </p:nvSpPr>
        <p:spPr>
          <a:xfrm>
            <a:off x="594360" y="1664208"/>
            <a:ext cx="365760" cy="365760"/>
          </a:xfrm>
          <a:prstGeom prst="oval">
            <a:avLst/>
          </a:prstGeom>
          <a:solidFill>
            <a:srgbClr val="0891B2"/>
          </a:solidFill>
          <a:ln/>
        </p:spPr>
      </p:sp>
      <p:sp>
        <p:nvSpPr>
          <p:cNvPr id="11" name="Text 9"/>
          <p:cNvSpPr/>
          <p:nvPr/>
        </p:nvSpPr>
        <p:spPr>
          <a:xfrm>
            <a:off x="594360" y="1664208"/>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051560" y="1554480"/>
            <a:ext cx="3291840" cy="5943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Receive annotated CRF, SAP, protocol, and raw data</a:t>
            </a:r>
            <a:endParaRPr lang="en-US" sz="1100" dirty="0"/>
          </a:p>
        </p:txBody>
      </p:sp>
      <p:sp>
        <p:nvSpPr>
          <p:cNvPr id="13" name="Shape 11"/>
          <p:cNvSpPr/>
          <p:nvPr/>
        </p:nvSpPr>
        <p:spPr>
          <a:xfrm>
            <a:off x="457200" y="2331720"/>
            <a:ext cx="4023360" cy="59436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14" name="Shape 12"/>
          <p:cNvSpPr/>
          <p:nvPr/>
        </p:nvSpPr>
        <p:spPr>
          <a:xfrm>
            <a:off x="457200" y="2331720"/>
            <a:ext cx="54864" cy="594360"/>
          </a:xfrm>
          <a:prstGeom prst="rectangle">
            <a:avLst/>
          </a:prstGeom>
          <a:solidFill>
            <a:srgbClr val="0891B2"/>
          </a:solidFill>
          <a:ln/>
        </p:spPr>
      </p:sp>
      <p:sp>
        <p:nvSpPr>
          <p:cNvPr id="15" name="Shape 13"/>
          <p:cNvSpPr/>
          <p:nvPr/>
        </p:nvSpPr>
        <p:spPr>
          <a:xfrm>
            <a:off x="594360" y="2441448"/>
            <a:ext cx="365760" cy="365760"/>
          </a:xfrm>
          <a:prstGeom prst="oval">
            <a:avLst/>
          </a:prstGeom>
          <a:solidFill>
            <a:srgbClr val="0891B2"/>
          </a:solidFill>
          <a:ln/>
        </p:spPr>
      </p:sp>
      <p:sp>
        <p:nvSpPr>
          <p:cNvPr id="16" name="Text 14"/>
          <p:cNvSpPr/>
          <p:nvPr/>
        </p:nvSpPr>
        <p:spPr>
          <a:xfrm>
            <a:off x="594360" y="2441448"/>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1051560" y="2331720"/>
            <a:ext cx="3291840" cy="5943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Review raw data and determine SDTM domain mappings</a:t>
            </a:r>
            <a:endParaRPr lang="en-US" sz="1100" dirty="0"/>
          </a:p>
        </p:txBody>
      </p:sp>
      <p:sp>
        <p:nvSpPr>
          <p:cNvPr id="18" name="Shape 16"/>
          <p:cNvSpPr/>
          <p:nvPr/>
        </p:nvSpPr>
        <p:spPr>
          <a:xfrm>
            <a:off x="457200" y="3108960"/>
            <a:ext cx="4023360" cy="59436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19" name="Shape 17"/>
          <p:cNvSpPr/>
          <p:nvPr/>
        </p:nvSpPr>
        <p:spPr>
          <a:xfrm>
            <a:off x="457200" y="3108960"/>
            <a:ext cx="54864" cy="594360"/>
          </a:xfrm>
          <a:prstGeom prst="rectangle">
            <a:avLst/>
          </a:prstGeom>
          <a:solidFill>
            <a:srgbClr val="0891B2"/>
          </a:solidFill>
          <a:ln/>
        </p:spPr>
      </p:sp>
      <p:sp>
        <p:nvSpPr>
          <p:cNvPr id="20" name="Shape 18"/>
          <p:cNvSpPr/>
          <p:nvPr/>
        </p:nvSpPr>
        <p:spPr>
          <a:xfrm>
            <a:off x="594360" y="3218688"/>
            <a:ext cx="365760" cy="365760"/>
          </a:xfrm>
          <a:prstGeom prst="oval">
            <a:avLst/>
          </a:prstGeom>
          <a:solidFill>
            <a:srgbClr val="0891B2"/>
          </a:solidFill>
          <a:ln/>
        </p:spPr>
      </p:sp>
      <p:sp>
        <p:nvSpPr>
          <p:cNvPr id="21" name="Text 19"/>
          <p:cNvSpPr/>
          <p:nvPr/>
        </p:nvSpPr>
        <p:spPr>
          <a:xfrm>
            <a:off x="594360" y="3218688"/>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1051560" y="3108960"/>
            <a:ext cx="3291840" cy="5943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Look up controlled terminology; map raw to CDISC values</a:t>
            </a:r>
            <a:endParaRPr lang="en-US" sz="1100" dirty="0"/>
          </a:p>
        </p:txBody>
      </p:sp>
      <p:sp>
        <p:nvSpPr>
          <p:cNvPr id="23" name="Shape 21"/>
          <p:cNvSpPr/>
          <p:nvPr/>
        </p:nvSpPr>
        <p:spPr>
          <a:xfrm>
            <a:off x="457200" y="3886200"/>
            <a:ext cx="4023360" cy="59436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24" name="Shape 22"/>
          <p:cNvSpPr/>
          <p:nvPr/>
        </p:nvSpPr>
        <p:spPr>
          <a:xfrm>
            <a:off x="457200" y="3886200"/>
            <a:ext cx="54864" cy="594360"/>
          </a:xfrm>
          <a:prstGeom prst="rectangle">
            <a:avLst/>
          </a:prstGeom>
          <a:solidFill>
            <a:srgbClr val="0891B2"/>
          </a:solidFill>
          <a:ln/>
        </p:spPr>
      </p:sp>
      <p:sp>
        <p:nvSpPr>
          <p:cNvPr id="25" name="Shape 23"/>
          <p:cNvSpPr/>
          <p:nvPr/>
        </p:nvSpPr>
        <p:spPr>
          <a:xfrm>
            <a:off x="594360" y="3995928"/>
            <a:ext cx="365760" cy="365760"/>
          </a:xfrm>
          <a:prstGeom prst="oval">
            <a:avLst/>
          </a:prstGeom>
          <a:solidFill>
            <a:srgbClr val="0891B2"/>
          </a:solidFill>
          <a:ln/>
        </p:spPr>
      </p:sp>
      <p:sp>
        <p:nvSpPr>
          <p:cNvPr id="26" name="Text 24"/>
          <p:cNvSpPr/>
          <p:nvPr/>
        </p:nvSpPr>
        <p:spPr>
          <a:xfrm>
            <a:off x="594360" y="3995928"/>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1051560" y="3886200"/>
            <a:ext cx="3291840" cy="5943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Create mapping specification for human review</a:t>
            </a:r>
            <a:endParaRPr lang="en-US" sz="1100" dirty="0"/>
          </a:p>
        </p:txBody>
      </p:sp>
      <p:sp>
        <p:nvSpPr>
          <p:cNvPr id="28" name="Shape 26"/>
          <p:cNvSpPr/>
          <p:nvPr/>
        </p:nvSpPr>
        <p:spPr>
          <a:xfrm>
            <a:off x="4754880" y="1554480"/>
            <a:ext cx="4023360" cy="59436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29" name="Shape 27"/>
          <p:cNvSpPr/>
          <p:nvPr/>
        </p:nvSpPr>
        <p:spPr>
          <a:xfrm>
            <a:off x="4754880" y="1554480"/>
            <a:ext cx="54864" cy="594360"/>
          </a:xfrm>
          <a:prstGeom prst="rectangle">
            <a:avLst/>
          </a:prstGeom>
          <a:solidFill>
            <a:srgbClr val="10B981"/>
          </a:solidFill>
          <a:ln/>
        </p:spPr>
      </p:sp>
      <p:sp>
        <p:nvSpPr>
          <p:cNvPr id="30" name="Shape 28"/>
          <p:cNvSpPr/>
          <p:nvPr/>
        </p:nvSpPr>
        <p:spPr>
          <a:xfrm>
            <a:off x="4892040" y="1664208"/>
            <a:ext cx="365760" cy="365760"/>
          </a:xfrm>
          <a:prstGeom prst="oval">
            <a:avLst/>
          </a:prstGeom>
          <a:solidFill>
            <a:srgbClr val="10B981"/>
          </a:solidFill>
          <a:ln/>
        </p:spPr>
      </p:sp>
      <p:sp>
        <p:nvSpPr>
          <p:cNvPr id="31" name="Text 29"/>
          <p:cNvSpPr/>
          <p:nvPr/>
        </p:nvSpPr>
        <p:spPr>
          <a:xfrm>
            <a:off x="4892040" y="1664208"/>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30"/>
          <p:cNvSpPr/>
          <p:nvPr/>
        </p:nvSpPr>
        <p:spPr>
          <a:xfrm>
            <a:off x="5349240" y="1554480"/>
            <a:ext cx="3291840" cy="5943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Production programmer implements spec into SAS code</a:t>
            </a:r>
            <a:endParaRPr lang="en-US" sz="1100" dirty="0"/>
          </a:p>
        </p:txBody>
      </p:sp>
      <p:sp>
        <p:nvSpPr>
          <p:cNvPr id="33" name="Shape 31"/>
          <p:cNvSpPr/>
          <p:nvPr/>
        </p:nvSpPr>
        <p:spPr>
          <a:xfrm>
            <a:off x="4754880" y="2331720"/>
            <a:ext cx="4023360" cy="59436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34" name="Shape 32"/>
          <p:cNvSpPr/>
          <p:nvPr/>
        </p:nvSpPr>
        <p:spPr>
          <a:xfrm>
            <a:off x="4754880" y="2331720"/>
            <a:ext cx="54864" cy="594360"/>
          </a:xfrm>
          <a:prstGeom prst="rectangle">
            <a:avLst/>
          </a:prstGeom>
          <a:solidFill>
            <a:srgbClr val="10B981"/>
          </a:solidFill>
          <a:ln/>
        </p:spPr>
      </p:sp>
      <p:sp>
        <p:nvSpPr>
          <p:cNvPr id="35" name="Shape 33"/>
          <p:cNvSpPr/>
          <p:nvPr/>
        </p:nvSpPr>
        <p:spPr>
          <a:xfrm>
            <a:off x="4892040" y="2441448"/>
            <a:ext cx="365760" cy="365760"/>
          </a:xfrm>
          <a:prstGeom prst="oval">
            <a:avLst/>
          </a:prstGeom>
          <a:solidFill>
            <a:srgbClr val="10B981"/>
          </a:solidFill>
          <a:ln/>
        </p:spPr>
      </p:sp>
      <p:sp>
        <p:nvSpPr>
          <p:cNvPr id="36" name="Text 34"/>
          <p:cNvSpPr/>
          <p:nvPr/>
        </p:nvSpPr>
        <p:spPr>
          <a:xfrm>
            <a:off x="4892040" y="2441448"/>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7" name="Text 35"/>
          <p:cNvSpPr/>
          <p:nvPr/>
        </p:nvSpPr>
        <p:spPr>
          <a:xfrm>
            <a:off x="5349240" y="2331720"/>
            <a:ext cx="3291840" cy="5943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QC programmer independently re-implements the spec</a:t>
            </a:r>
            <a:endParaRPr lang="en-US" sz="1100" dirty="0"/>
          </a:p>
        </p:txBody>
      </p:sp>
      <p:sp>
        <p:nvSpPr>
          <p:cNvPr id="38" name="Shape 36"/>
          <p:cNvSpPr/>
          <p:nvPr/>
        </p:nvSpPr>
        <p:spPr>
          <a:xfrm>
            <a:off x="4754880" y="3108960"/>
            <a:ext cx="4023360" cy="59436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39" name="Shape 37"/>
          <p:cNvSpPr/>
          <p:nvPr/>
        </p:nvSpPr>
        <p:spPr>
          <a:xfrm>
            <a:off x="4754880" y="3108960"/>
            <a:ext cx="54864" cy="594360"/>
          </a:xfrm>
          <a:prstGeom prst="rectangle">
            <a:avLst/>
          </a:prstGeom>
          <a:solidFill>
            <a:srgbClr val="10B981"/>
          </a:solidFill>
          <a:ln/>
        </p:spPr>
      </p:sp>
      <p:sp>
        <p:nvSpPr>
          <p:cNvPr id="40" name="Shape 38"/>
          <p:cNvSpPr/>
          <p:nvPr/>
        </p:nvSpPr>
        <p:spPr>
          <a:xfrm>
            <a:off x="4892040" y="3218688"/>
            <a:ext cx="365760" cy="365760"/>
          </a:xfrm>
          <a:prstGeom prst="oval">
            <a:avLst/>
          </a:prstGeom>
          <a:solidFill>
            <a:srgbClr val="10B981"/>
          </a:solidFill>
          <a:ln/>
        </p:spPr>
      </p:sp>
      <p:sp>
        <p:nvSpPr>
          <p:cNvPr id="41" name="Text 39"/>
          <p:cNvSpPr/>
          <p:nvPr/>
        </p:nvSpPr>
        <p:spPr>
          <a:xfrm>
            <a:off x="4892040" y="3218688"/>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2" name="Text 40"/>
          <p:cNvSpPr/>
          <p:nvPr/>
        </p:nvSpPr>
        <p:spPr>
          <a:xfrm>
            <a:off x="5349240" y="3108960"/>
            <a:ext cx="3291840" cy="5943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Compare outputs; iterate until 100% match</a:t>
            </a:r>
            <a:endParaRPr lang="en-US" sz="1100" dirty="0"/>
          </a:p>
        </p:txBody>
      </p:sp>
      <p:sp>
        <p:nvSpPr>
          <p:cNvPr id="43" name="Shape 41"/>
          <p:cNvSpPr/>
          <p:nvPr/>
        </p:nvSpPr>
        <p:spPr>
          <a:xfrm>
            <a:off x="4754880" y="3886200"/>
            <a:ext cx="4023360" cy="59436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44" name="Shape 42"/>
          <p:cNvSpPr/>
          <p:nvPr/>
        </p:nvSpPr>
        <p:spPr>
          <a:xfrm>
            <a:off x="4754880" y="3886200"/>
            <a:ext cx="54864" cy="594360"/>
          </a:xfrm>
          <a:prstGeom prst="rectangle">
            <a:avLst/>
          </a:prstGeom>
          <a:solidFill>
            <a:srgbClr val="10B981"/>
          </a:solidFill>
          <a:ln/>
        </p:spPr>
      </p:sp>
      <p:sp>
        <p:nvSpPr>
          <p:cNvPr id="45" name="Shape 43"/>
          <p:cNvSpPr/>
          <p:nvPr/>
        </p:nvSpPr>
        <p:spPr>
          <a:xfrm>
            <a:off x="4892040" y="3995928"/>
            <a:ext cx="365760" cy="365760"/>
          </a:xfrm>
          <a:prstGeom prst="oval">
            <a:avLst/>
          </a:prstGeom>
          <a:solidFill>
            <a:srgbClr val="10B981"/>
          </a:solidFill>
          <a:ln/>
        </p:spPr>
      </p:sp>
      <p:sp>
        <p:nvSpPr>
          <p:cNvPr id="46" name="Text 44"/>
          <p:cNvSpPr/>
          <p:nvPr/>
        </p:nvSpPr>
        <p:spPr>
          <a:xfrm>
            <a:off x="4892040" y="3995928"/>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7" name="Text 45"/>
          <p:cNvSpPr/>
          <p:nvPr/>
        </p:nvSpPr>
        <p:spPr>
          <a:xfrm>
            <a:off x="5349240" y="3886200"/>
            <a:ext cx="3291840" cy="59436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Run Pinnacle 21 validation; generate define.xml</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1828800" cy="320040"/>
          </a:xfrm>
          <a:prstGeom prst="rect">
            <a:avLst/>
          </a:prstGeom>
          <a:noFill/>
          <a:ln/>
        </p:spPr>
        <p:txBody>
          <a:bodyPr wrap="square"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Module 3.1</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The Agent Architecture</a:t>
            </a:r>
            <a:endParaRPr lang="en-US" sz="3000" dirty="0"/>
          </a:p>
        </p:txBody>
      </p:sp>
      <p:sp>
        <p:nvSpPr>
          <p:cNvPr id="4" name="Shape 2"/>
          <p:cNvSpPr/>
          <p:nvPr/>
        </p:nvSpPr>
        <p:spPr>
          <a:xfrm>
            <a:off x="0" y="4892040"/>
            <a:ext cx="9144000" cy="251460"/>
          </a:xfrm>
          <a:prstGeom prst="rectangle">
            <a:avLst/>
          </a:prstGeom>
          <a:solidFill>
            <a:srgbClr val="0F172A"/>
          </a:solidFill>
          <a:ln/>
        </p:spPr>
      </p:sp>
      <p:sp>
        <p:nvSpPr>
          <p:cNvPr id="5" name="Text 3"/>
          <p:cNvSpPr/>
          <p:nvPr/>
        </p:nvSpPr>
        <p:spPr>
          <a:xfrm>
            <a:off x="457200" y="4892040"/>
            <a:ext cx="8229600" cy="25146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AI for Clinical SAS Programmers  |  Training Program 2026</a:t>
            </a:r>
            <a:endParaRPr lang="en-US" sz="800" dirty="0"/>
          </a:p>
        </p:txBody>
      </p:sp>
      <p:sp>
        <p:nvSpPr>
          <p:cNvPr id="6" name="Text 4"/>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17 / 22</a:t>
            </a:r>
            <a:endParaRPr lang="en-US" sz="900" dirty="0"/>
          </a:p>
        </p:txBody>
      </p:sp>
      <p:sp>
        <p:nvSpPr>
          <p:cNvPr id="7" name="Shape 5"/>
          <p:cNvSpPr/>
          <p:nvPr/>
        </p:nvSpPr>
        <p:spPr>
          <a:xfrm>
            <a:off x="274320" y="1371600"/>
            <a:ext cx="1600200" cy="292608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8" name="Shape 6"/>
          <p:cNvSpPr/>
          <p:nvPr/>
        </p:nvSpPr>
        <p:spPr>
          <a:xfrm>
            <a:off x="274320" y="1371600"/>
            <a:ext cx="1600200" cy="54864"/>
          </a:xfrm>
          <a:prstGeom prst="rectangle">
            <a:avLst/>
          </a:prstGeom>
          <a:solidFill>
            <a:srgbClr val="0891B2"/>
          </a:solidFill>
          <a:ln/>
        </p:spPr>
      </p:sp>
      <p:sp>
        <p:nvSpPr>
          <p:cNvPr id="9" name="Shape 7"/>
          <p:cNvSpPr/>
          <p:nvPr/>
        </p:nvSpPr>
        <p:spPr>
          <a:xfrm>
            <a:off x="777240" y="1554480"/>
            <a:ext cx="594360" cy="594360"/>
          </a:xfrm>
          <a:prstGeom prst="oval">
            <a:avLst/>
          </a:prstGeom>
          <a:solidFill>
            <a:srgbClr val="0891B2">
              <a:alpha val="15000"/>
            </a:srgbClr>
          </a:solidFill>
          <a:ln/>
        </p:spPr>
      </p:sp>
      <p:pic>
        <p:nvPicPr>
          <p:cNvPr id="10" name="Image 0" descr="preencoded.png"/>
          <p:cNvPicPr>
            <a:picLocks noChangeAspect="1"/>
          </p:cNvPicPr>
          <p:nvPr/>
        </p:nvPicPr>
        <p:blipFill>
          <a:blip r:embed="rId1"/>
          <a:stretch>
            <a:fillRect/>
          </a:stretch>
        </p:blipFill>
        <p:spPr>
          <a:xfrm>
            <a:off x="868680" y="1645920"/>
            <a:ext cx="411480" cy="411480"/>
          </a:xfrm>
          <a:prstGeom prst="rect">
            <a:avLst/>
          </a:prstGeom>
        </p:spPr>
      </p:pic>
      <p:sp>
        <p:nvSpPr>
          <p:cNvPr id="11" name="Text 8"/>
          <p:cNvSpPr/>
          <p:nvPr/>
        </p:nvSpPr>
        <p:spPr>
          <a:xfrm>
            <a:off x="365760" y="2286000"/>
            <a:ext cx="1417320" cy="548640"/>
          </a:xfrm>
          <a:prstGeom prst="rect">
            <a:avLst/>
          </a:prstGeom>
          <a:noFill/>
          <a:ln/>
        </p:spPr>
        <p:txBody>
          <a:bodyPr wrap="square" rtlCol="0" anchor="ctr"/>
          <a:lstStyle/>
          <a:p>
            <a:pPr algn="ctr" indent="0" marL="0">
              <a:buNone/>
            </a:pPr>
            <a:r>
              <a:rPr lang="en-US" sz="1200" b="1" dirty="0">
                <a:solidFill>
                  <a:srgbClr val="0F172A"/>
                </a:solidFill>
                <a:latin typeface="Georgia" pitchFamily="34" charset="0"/>
                <a:ea typeface="Georgia" pitchFamily="34" charset="-122"/>
                <a:cs typeface="Georgia" pitchFamily="34" charset="-120"/>
              </a:rPr>
              <a:t>Spec</a:t>
            </a:r>
            <a:endParaRPr lang="en-US" sz="1200" dirty="0"/>
          </a:p>
          <a:p>
            <a:pPr algn="ctr" indent="0" marL="0">
              <a:buNone/>
            </a:pPr>
            <a:r>
              <a:rPr lang="en-US" sz="1200" b="1" dirty="0">
                <a:solidFill>
                  <a:srgbClr val="0F172A"/>
                </a:solidFill>
                <a:latin typeface="Georgia" pitchFamily="34" charset="0"/>
                <a:ea typeface="Georgia" pitchFamily="34" charset="-122"/>
                <a:cs typeface="Georgia" pitchFamily="34" charset="-120"/>
              </a:rPr>
              <a:t>Builder</a:t>
            </a:r>
            <a:endParaRPr lang="en-US" sz="1200" dirty="0"/>
          </a:p>
        </p:txBody>
      </p:sp>
      <p:sp>
        <p:nvSpPr>
          <p:cNvPr id="12" name="Shape 9"/>
          <p:cNvSpPr/>
          <p:nvPr/>
        </p:nvSpPr>
        <p:spPr>
          <a:xfrm>
            <a:off x="594360" y="2880360"/>
            <a:ext cx="960120" cy="274320"/>
          </a:xfrm>
          <a:prstGeom prst="rectangle">
            <a:avLst/>
          </a:prstGeom>
          <a:solidFill>
            <a:srgbClr val="ECFDF5"/>
          </a:solidFill>
          <a:ln/>
        </p:spPr>
      </p:sp>
      <p:sp>
        <p:nvSpPr>
          <p:cNvPr id="13" name="Text 10"/>
          <p:cNvSpPr/>
          <p:nvPr/>
        </p:nvSpPr>
        <p:spPr>
          <a:xfrm>
            <a:off x="594360" y="2880360"/>
            <a:ext cx="960120" cy="274320"/>
          </a:xfrm>
          <a:prstGeom prst="rect">
            <a:avLst/>
          </a:prstGeom>
          <a:noFill/>
          <a:ln/>
        </p:spPr>
        <p:txBody>
          <a:bodyPr wrap="square" rtlCol="0" anchor="ctr"/>
          <a:lstStyle/>
          <a:p>
            <a:pPr algn="ctr" indent="0" marL="0">
              <a:buNone/>
            </a:pPr>
            <a:r>
              <a:rPr lang="en-US" sz="1000" b="1" dirty="0">
                <a:solidFill>
                  <a:srgbClr val="10B981"/>
                </a:solidFill>
                <a:latin typeface="Calibri" pitchFamily="34" charset="0"/>
                <a:ea typeface="Calibri" pitchFamily="34" charset="-122"/>
                <a:cs typeface="Calibri" pitchFamily="34" charset="-120"/>
              </a:rPr>
              <a:t>Sonnet</a:t>
            </a:r>
            <a:endParaRPr lang="en-US" sz="1000" dirty="0"/>
          </a:p>
        </p:txBody>
      </p:sp>
      <p:sp>
        <p:nvSpPr>
          <p:cNvPr id="14" name="Text 11"/>
          <p:cNvSpPr/>
          <p:nvPr/>
        </p:nvSpPr>
        <p:spPr>
          <a:xfrm>
            <a:off x="365760" y="3246120"/>
            <a:ext cx="1417320" cy="86868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Analyzes raw data &amp; CRF, produces mapping spec</a:t>
            </a:r>
            <a:endParaRPr lang="en-US" sz="900" dirty="0"/>
          </a:p>
        </p:txBody>
      </p:sp>
      <p:sp>
        <p:nvSpPr>
          <p:cNvPr id="15" name="Shape 12"/>
          <p:cNvSpPr/>
          <p:nvPr/>
        </p:nvSpPr>
        <p:spPr>
          <a:xfrm>
            <a:off x="2011680" y="1371600"/>
            <a:ext cx="1600200" cy="292608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16" name="Shape 13"/>
          <p:cNvSpPr/>
          <p:nvPr/>
        </p:nvSpPr>
        <p:spPr>
          <a:xfrm>
            <a:off x="2011680" y="1371600"/>
            <a:ext cx="1600200" cy="54864"/>
          </a:xfrm>
          <a:prstGeom prst="rectangle">
            <a:avLst/>
          </a:prstGeom>
          <a:solidFill>
            <a:srgbClr val="F59E0B"/>
          </a:solidFill>
          <a:ln/>
        </p:spPr>
      </p:sp>
      <p:sp>
        <p:nvSpPr>
          <p:cNvPr id="17" name="Shape 14"/>
          <p:cNvSpPr/>
          <p:nvPr/>
        </p:nvSpPr>
        <p:spPr>
          <a:xfrm>
            <a:off x="2514600" y="1554480"/>
            <a:ext cx="594360" cy="594360"/>
          </a:xfrm>
          <a:prstGeom prst="oval">
            <a:avLst/>
          </a:prstGeom>
          <a:solidFill>
            <a:srgbClr val="F59E0B">
              <a:alpha val="15000"/>
            </a:srgbClr>
          </a:solidFill>
          <a:ln/>
        </p:spPr>
      </p:sp>
      <p:pic>
        <p:nvPicPr>
          <p:cNvPr id="18" name="Image 1" descr="preencoded.png"/>
          <p:cNvPicPr>
            <a:picLocks noChangeAspect="1"/>
          </p:cNvPicPr>
          <p:nvPr/>
        </p:nvPicPr>
        <p:blipFill>
          <a:blip r:embed="rId2"/>
          <a:stretch>
            <a:fillRect/>
          </a:stretch>
        </p:blipFill>
        <p:spPr>
          <a:xfrm>
            <a:off x="2606040" y="1645920"/>
            <a:ext cx="411480" cy="411480"/>
          </a:xfrm>
          <a:prstGeom prst="rect">
            <a:avLst/>
          </a:prstGeom>
        </p:spPr>
      </p:pic>
      <p:sp>
        <p:nvSpPr>
          <p:cNvPr id="19" name="Text 15"/>
          <p:cNvSpPr/>
          <p:nvPr/>
        </p:nvSpPr>
        <p:spPr>
          <a:xfrm>
            <a:off x="2103120" y="2286000"/>
            <a:ext cx="1417320" cy="548640"/>
          </a:xfrm>
          <a:prstGeom prst="rect">
            <a:avLst/>
          </a:prstGeom>
          <a:noFill/>
          <a:ln/>
        </p:spPr>
        <p:txBody>
          <a:bodyPr wrap="square" rtlCol="0" anchor="ctr"/>
          <a:lstStyle/>
          <a:p>
            <a:pPr algn="ctr" indent="0" marL="0">
              <a:buNone/>
            </a:pPr>
            <a:r>
              <a:rPr lang="en-US" sz="1200" b="1" dirty="0">
                <a:solidFill>
                  <a:srgbClr val="0F172A"/>
                </a:solidFill>
                <a:latin typeface="Georgia" pitchFamily="34" charset="0"/>
                <a:ea typeface="Georgia" pitchFamily="34" charset="-122"/>
                <a:cs typeface="Georgia" pitchFamily="34" charset="-120"/>
              </a:rPr>
              <a:t>Spec</a:t>
            </a:r>
            <a:endParaRPr lang="en-US" sz="1200" dirty="0"/>
          </a:p>
          <a:p>
            <a:pPr algn="ctr" indent="0" marL="0">
              <a:buNone/>
            </a:pPr>
            <a:r>
              <a:rPr lang="en-US" sz="1200" b="1" dirty="0">
                <a:solidFill>
                  <a:srgbClr val="0F172A"/>
                </a:solidFill>
                <a:latin typeface="Georgia" pitchFamily="34" charset="0"/>
                <a:ea typeface="Georgia" pitchFamily="34" charset="-122"/>
                <a:cs typeface="Georgia" pitchFamily="34" charset="-120"/>
              </a:rPr>
              <a:t>Reviewer</a:t>
            </a:r>
            <a:endParaRPr lang="en-US" sz="1200" dirty="0"/>
          </a:p>
        </p:txBody>
      </p:sp>
      <p:sp>
        <p:nvSpPr>
          <p:cNvPr id="20" name="Shape 16"/>
          <p:cNvSpPr/>
          <p:nvPr/>
        </p:nvSpPr>
        <p:spPr>
          <a:xfrm>
            <a:off x="2331720" y="2880360"/>
            <a:ext cx="960120" cy="274320"/>
          </a:xfrm>
          <a:prstGeom prst="rectangle">
            <a:avLst/>
          </a:prstGeom>
          <a:solidFill>
            <a:srgbClr val="EDE9FE"/>
          </a:solidFill>
          <a:ln/>
        </p:spPr>
      </p:sp>
      <p:sp>
        <p:nvSpPr>
          <p:cNvPr id="21" name="Text 17"/>
          <p:cNvSpPr/>
          <p:nvPr/>
        </p:nvSpPr>
        <p:spPr>
          <a:xfrm>
            <a:off x="2331720" y="2880360"/>
            <a:ext cx="960120" cy="274320"/>
          </a:xfrm>
          <a:prstGeom prst="rect">
            <a:avLst/>
          </a:prstGeom>
          <a:noFill/>
          <a:ln/>
        </p:spPr>
        <p:txBody>
          <a:bodyPr wrap="square" rtlCol="0" anchor="ctr"/>
          <a:lstStyle/>
          <a:p>
            <a:pPr algn="ctr" indent="0" marL="0">
              <a:buNone/>
            </a:pPr>
            <a:r>
              <a:rPr lang="en-US" sz="1000" b="1" dirty="0">
                <a:solidFill>
                  <a:srgbClr val="8B5CF6"/>
                </a:solidFill>
                <a:latin typeface="Calibri" pitchFamily="34" charset="0"/>
                <a:ea typeface="Calibri" pitchFamily="34" charset="-122"/>
                <a:cs typeface="Calibri" pitchFamily="34" charset="-120"/>
              </a:rPr>
              <a:t>Opus</a:t>
            </a:r>
            <a:endParaRPr lang="en-US" sz="1000" dirty="0"/>
          </a:p>
        </p:txBody>
      </p:sp>
      <p:sp>
        <p:nvSpPr>
          <p:cNvPr id="22" name="Text 18"/>
          <p:cNvSpPr/>
          <p:nvPr/>
        </p:nvSpPr>
        <p:spPr>
          <a:xfrm>
            <a:off x="2103120" y="3246120"/>
            <a:ext cx="1417320" cy="86868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Reviews spec for CDISC compliance</a:t>
            </a:r>
            <a:endParaRPr lang="en-US" sz="900" dirty="0"/>
          </a:p>
        </p:txBody>
      </p:sp>
      <p:sp>
        <p:nvSpPr>
          <p:cNvPr id="23" name="Shape 19"/>
          <p:cNvSpPr/>
          <p:nvPr/>
        </p:nvSpPr>
        <p:spPr>
          <a:xfrm>
            <a:off x="3749040" y="1371600"/>
            <a:ext cx="1600200" cy="292608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24" name="Shape 20"/>
          <p:cNvSpPr/>
          <p:nvPr/>
        </p:nvSpPr>
        <p:spPr>
          <a:xfrm>
            <a:off x="3749040" y="1371600"/>
            <a:ext cx="1600200" cy="54864"/>
          </a:xfrm>
          <a:prstGeom prst="rectangle">
            <a:avLst/>
          </a:prstGeom>
          <a:solidFill>
            <a:srgbClr val="0891B2"/>
          </a:solidFill>
          <a:ln/>
        </p:spPr>
      </p:sp>
      <p:sp>
        <p:nvSpPr>
          <p:cNvPr id="25" name="Shape 21"/>
          <p:cNvSpPr/>
          <p:nvPr/>
        </p:nvSpPr>
        <p:spPr>
          <a:xfrm>
            <a:off x="4251960" y="1554480"/>
            <a:ext cx="594360" cy="594360"/>
          </a:xfrm>
          <a:prstGeom prst="oval">
            <a:avLst/>
          </a:prstGeom>
          <a:solidFill>
            <a:srgbClr val="0891B2">
              <a:alpha val="15000"/>
            </a:srgbClr>
          </a:solidFill>
          <a:ln/>
        </p:spPr>
      </p:sp>
      <p:pic>
        <p:nvPicPr>
          <p:cNvPr id="26" name="Image 2" descr="preencoded.png"/>
          <p:cNvPicPr>
            <a:picLocks noChangeAspect="1"/>
          </p:cNvPicPr>
          <p:nvPr/>
        </p:nvPicPr>
        <p:blipFill>
          <a:blip r:embed="rId3"/>
          <a:stretch>
            <a:fillRect/>
          </a:stretch>
        </p:blipFill>
        <p:spPr>
          <a:xfrm>
            <a:off x="4343400" y="1645920"/>
            <a:ext cx="411480" cy="411480"/>
          </a:xfrm>
          <a:prstGeom prst="rect">
            <a:avLst/>
          </a:prstGeom>
        </p:spPr>
      </p:pic>
      <p:sp>
        <p:nvSpPr>
          <p:cNvPr id="27" name="Text 22"/>
          <p:cNvSpPr/>
          <p:nvPr/>
        </p:nvSpPr>
        <p:spPr>
          <a:xfrm>
            <a:off x="3840480" y="2286000"/>
            <a:ext cx="1417320" cy="548640"/>
          </a:xfrm>
          <a:prstGeom prst="rect">
            <a:avLst/>
          </a:prstGeom>
          <a:noFill/>
          <a:ln/>
        </p:spPr>
        <p:txBody>
          <a:bodyPr wrap="square" rtlCol="0" anchor="ctr"/>
          <a:lstStyle/>
          <a:p>
            <a:pPr algn="ctr" indent="0" marL="0">
              <a:buNone/>
            </a:pPr>
            <a:r>
              <a:rPr lang="en-US" sz="1200" b="1" dirty="0">
                <a:solidFill>
                  <a:srgbClr val="0F172A"/>
                </a:solidFill>
                <a:latin typeface="Georgia" pitchFamily="34" charset="0"/>
                <a:ea typeface="Georgia" pitchFamily="34" charset="-122"/>
                <a:cs typeface="Georgia" pitchFamily="34" charset="-120"/>
              </a:rPr>
              <a:t>Production</a:t>
            </a:r>
            <a:endParaRPr lang="en-US" sz="1200" dirty="0"/>
          </a:p>
          <a:p>
            <a:pPr algn="ctr" indent="0" marL="0">
              <a:buNone/>
            </a:pPr>
            <a:r>
              <a:rPr lang="en-US" sz="1200" b="1" dirty="0">
                <a:solidFill>
                  <a:srgbClr val="0F172A"/>
                </a:solidFill>
                <a:latin typeface="Georgia" pitchFamily="34" charset="0"/>
                <a:ea typeface="Georgia" pitchFamily="34" charset="-122"/>
                <a:cs typeface="Georgia" pitchFamily="34" charset="-120"/>
              </a:rPr>
              <a:t>Programmer</a:t>
            </a:r>
            <a:endParaRPr lang="en-US" sz="1200" dirty="0"/>
          </a:p>
        </p:txBody>
      </p:sp>
      <p:sp>
        <p:nvSpPr>
          <p:cNvPr id="28" name="Shape 23"/>
          <p:cNvSpPr/>
          <p:nvPr/>
        </p:nvSpPr>
        <p:spPr>
          <a:xfrm>
            <a:off x="4069080" y="2880360"/>
            <a:ext cx="960120" cy="274320"/>
          </a:xfrm>
          <a:prstGeom prst="rectangle">
            <a:avLst/>
          </a:prstGeom>
          <a:solidFill>
            <a:srgbClr val="ECFDF5"/>
          </a:solidFill>
          <a:ln/>
        </p:spPr>
      </p:sp>
      <p:sp>
        <p:nvSpPr>
          <p:cNvPr id="29" name="Text 24"/>
          <p:cNvSpPr/>
          <p:nvPr/>
        </p:nvSpPr>
        <p:spPr>
          <a:xfrm>
            <a:off x="4069080" y="2880360"/>
            <a:ext cx="960120" cy="274320"/>
          </a:xfrm>
          <a:prstGeom prst="rect">
            <a:avLst/>
          </a:prstGeom>
          <a:noFill/>
          <a:ln/>
        </p:spPr>
        <p:txBody>
          <a:bodyPr wrap="square" rtlCol="0" anchor="ctr"/>
          <a:lstStyle/>
          <a:p>
            <a:pPr algn="ctr" indent="0" marL="0">
              <a:buNone/>
            </a:pPr>
            <a:r>
              <a:rPr lang="en-US" sz="1000" b="1" dirty="0">
                <a:solidFill>
                  <a:srgbClr val="10B981"/>
                </a:solidFill>
                <a:latin typeface="Calibri" pitchFamily="34" charset="0"/>
                <a:ea typeface="Calibri" pitchFamily="34" charset="-122"/>
                <a:cs typeface="Calibri" pitchFamily="34" charset="-120"/>
              </a:rPr>
              <a:t>Sonnet</a:t>
            </a:r>
            <a:endParaRPr lang="en-US" sz="1000" dirty="0"/>
          </a:p>
        </p:txBody>
      </p:sp>
      <p:sp>
        <p:nvSpPr>
          <p:cNvPr id="30" name="Text 25"/>
          <p:cNvSpPr/>
          <p:nvPr/>
        </p:nvSpPr>
        <p:spPr>
          <a:xfrm>
            <a:off x="3840480" y="3246120"/>
            <a:ext cx="1417320" cy="86868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Implements spec into SAS code</a:t>
            </a:r>
            <a:endParaRPr lang="en-US" sz="900" dirty="0"/>
          </a:p>
        </p:txBody>
      </p:sp>
      <p:sp>
        <p:nvSpPr>
          <p:cNvPr id="31" name="Shape 26"/>
          <p:cNvSpPr/>
          <p:nvPr/>
        </p:nvSpPr>
        <p:spPr>
          <a:xfrm>
            <a:off x="5486400" y="1371600"/>
            <a:ext cx="1600200" cy="292608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32" name="Shape 27"/>
          <p:cNvSpPr/>
          <p:nvPr/>
        </p:nvSpPr>
        <p:spPr>
          <a:xfrm>
            <a:off x="5486400" y="1371600"/>
            <a:ext cx="1600200" cy="54864"/>
          </a:xfrm>
          <a:prstGeom prst="rectangle">
            <a:avLst/>
          </a:prstGeom>
          <a:solidFill>
            <a:srgbClr val="8B5CF6"/>
          </a:solidFill>
          <a:ln/>
        </p:spPr>
      </p:sp>
      <p:sp>
        <p:nvSpPr>
          <p:cNvPr id="33" name="Shape 28"/>
          <p:cNvSpPr/>
          <p:nvPr/>
        </p:nvSpPr>
        <p:spPr>
          <a:xfrm>
            <a:off x="5989320" y="1554480"/>
            <a:ext cx="594360" cy="594360"/>
          </a:xfrm>
          <a:prstGeom prst="oval">
            <a:avLst/>
          </a:prstGeom>
          <a:solidFill>
            <a:srgbClr val="8B5CF6">
              <a:alpha val="15000"/>
            </a:srgbClr>
          </a:solidFill>
          <a:ln/>
        </p:spPr>
      </p:sp>
      <p:pic>
        <p:nvPicPr>
          <p:cNvPr id="34" name="Image 3" descr="preencoded.png"/>
          <p:cNvPicPr>
            <a:picLocks noChangeAspect="1"/>
          </p:cNvPicPr>
          <p:nvPr/>
        </p:nvPicPr>
        <p:blipFill>
          <a:blip r:embed="rId4"/>
          <a:stretch>
            <a:fillRect/>
          </a:stretch>
        </p:blipFill>
        <p:spPr>
          <a:xfrm>
            <a:off x="6080760" y="1645920"/>
            <a:ext cx="411480" cy="411480"/>
          </a:xfrm>
          <a:prstGeom prst="rect">
            <a:avLst/>
          </a:prstGeom>
        </p:spPr>
      </p:pic>
      <p:sp>
        <p:nvSpPr>
          <p:cNvPr id="35" name="Text 29"/>
          <p:cNvSpPr/>
          <p:nvPr/>
        </p:nvSpPr>
        <p:spPr>
          <a:xfrm>
            <a:off x="5577840" y="2286000"/>
            <a:ext cx="1417320" cy="548640"/>
          </a:xfrm>
          <a:prstGeom prst="rect">
            <a:avLst/>
          </a:prstGeom>
          <a:noFill/>
          <a:ln/>
        </p:spPr>
        <p:txBody>
          <a:bodyPr wrap="square" rtlCol="0" anchor="ctr"/>
          <a:lstStyle/>
          <a:p>
            <a:pPr algn="ctr" indent="0" marL="0">
              <a:buNone/>
            </a:pPr>
            <a:r>
              <a:rPr lang="en-US" sz="1200" b="1" dirty="0">
                <a:solidFill>
                  <a:srgbClr val="0F172A"/>
                </a:solidFill>
                <a:latin typeface="Georgia" pitchFamily="34" charset="0"/>
                <a:ea typeface="Georgia" pitchFamily="34" charset="-122"/>
                <a:cs typeface="Georgia" pitchFamily="34" charset="-120"/>
              </a:rPr>
              <a:t>QC</a:t>
            </a:r>
            <a:endParaRPr lang="en-US" sz="1200" dirty="0"/>
          </a:p>
          <a:p>
            <a:pPr algn="ctr" indent="0" marL="0">
              <a:buNone/>
            </a:pPr>
            <a:r>
              <a:rPr lang="en-US" sz="1200" b="1" dirty="0">
                <a:solidFill>
                  <a:srgbClr val="0F172A"/>
                </a:solidFill>
                <a:latin typeface="Georgia" pitchFamily="34" charset="0"/>
                <a:ea typeface="Georgia" pitchFamily="34" charset="-122"/>
                <a:cs typeface="Georgia" pitchFamily="34" charset="-120"/>
              </a:rPr>
              <a:t>Programmer</a:t>
            </a:r>
            <a:endParaRPr lang="en-US" sz="1200" dirty="0"/>
          </a:p>
        </p:txBody>
      </p:sp>
      <p:sp>
        <p:nvSpPr>
          <p:cNvPr id="36" name="Shape 30"/>
          <p:cNvSpPr/>
          <p:nvPr/>
        </p:nvSpPr>
        <p:spPr>
          <a:xfrm>
            <a:off x="5806440" y="2880360"/>
            <a:ext cx="960120" cy="274320"/>
          </a:xfrm>
          <a:prstGeom prst="rectangle">
            <a:avLst/>
          </a:prstGeom>
          <a:solidFill>
            <a:srgbClr val="EDE9FE"/>
          </a:solidFill>
          <a:ln/>
        </p:spPr>
      </p:sp>
      <p:sp>
        <p:nvSpPr>
          <p:cNvPr id="37" name="Text 31"/>
          <p:cNvSpPr/>
          <p:nvPr/>
        </p:nvSpPr>
        <p:spPr>
          <a:xfrm>
            <a:off x="5806440" y="2880360"/>
            <a:ext cx="960120" cy="274320"/>
          </a:xfrm>
          <a:prstGeom prst="rect">
            <a:avLst/>
          </a:prstGeom>
          <a:noFill/>
          <a:ln/>
        </p:spPr>
        <p:txBody>
          <a:bodyPr wrap="square" rtlCol="0" anchor="ctr"/>
          <a:lstStyle/>
          <a:p>
            <a:pPr algn="ctr" indent="0" marL="0">
              <a:buNone/>
            </a:pPr>
            <a:r>
              <a:rPr lang="en-US" sz="1000" b="1" dirty="0">
                <a:solidFill>
                  <a:srgbClr val="8B5CF6"/>
                </a:solidFill>
                <a:latin typeface="Calibri" pitchFamily="34" charset="0"/>
                <a:ea typeface="Calibri" pitchFamily="34" charset="-122"/>
                <a:cs typeface="Calibri" pitchFamily="34" charset="-120"/>
              </a:rPr>
              <a:t>Opus</a:t>
            </a:r>
            <a:endParaRPr lang="en-US" sz="1000" dirty="0"/>
          </a:p>
        </p:txBody>
      </p:sp>
      <p:sp>
        <p:nvSpPr>
          <p:cNvPr id="38" name="Text 32"/>
          <p:cNvSpPr/>
          <p:nvPr/>
        </p:nvSpPr>
        <p:spPr>
          <a:xfrm>
            <a:off x="5577840" y="3246120"/>
            <a:ext cx="1417320" cy="86868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Independent re-implementation &amp; comparison</a:t>
            </a:r>
            <a:endParaRPr lang="en-US" sz="900" dirty="0"/>
          </a:p>
        </p:txBody>
      </p:sp>
      <p:sp>
        <p:nvSpPr>
          <p:cNvPr id="39" name="Shape 33"/>
          <p:cNvSpPr/>
          <p:nvPr/>
        </p:nvSpPr>
        <p:spPr>
          <a:xfrm>
            <a:off x="7223760" y="1371600"/>
            <a:ext cx="1600200" cy="292608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40" name="Shape 34"/>
          <p:cNvSpPr/>
          <p:nvPr/>
        </p:nvSpPr>
        <p:spPr>
          <a:xfrm>
            <a:off x="7223760" y="1371600"/>
            <a:ext cx="1600200" cy="54864"/>
          </a:xfrm>
          <a:prstGeom prst="rectangle">
            <a:avLst/>
          </a:prstGeom>
          <a:solidFill>
            <a:srgbClr val="10B981"/>
          </a:solidFill>
          <a:ln/>
        </p:spPr>
      </p:sp>
      <p:sp>
        <p:nvSpPr>
          <p:cNvPr id="41" name="Shape 35"/>
          <p:cNvSpPr/>
          <p:nvPr/>
        </p:nvSpPr>
        <p:spPr>
          <a:xfrm>
            <a:off x="7726680" y="1554480"/>
            <a:ext cx="594360" cy="594360"/>
          </a:xfrm>
          <a:prstGeom prst="oval">
            <a:avLst/>
          </a:prstGeom>
          <a:solidFill>
            <a:srgbClr val="10B981">
              <a:alpha val="15000"/>
            </a:srgbClr>
          </a:solidFill>
          <a:ln/>
        </p:spPr>
      </p:sp>
      <p:pic>
        <p:nvPicPr>
          <p:cNvPr id="42" name="Image 4" descr="preencoded.png"/>
          <p:cNvPicPr>
            <a:picLocks noChangeAspect="1"/>
          </p:cNvPicPr>
          <p:nvPr/>
        </p:nvPicPr>
        <p:blipFill>
          <a:blip r:embed="rId5"/>
          <a:stretch>
            <a:fillRect/>
          </a:stretch>
        </p:blipFill>
        <p:spPr>
          <a:xfrm>
            <a:off x="7818120" y="1645920"/>
            <a:ext cx="411480" cy="411480"/>
          </a:xfrm>
          <a:prstGeom prst="rect">
            <a:avLst/>
          </a:prstGeom>
        </p:spPr>
      </p:pic>
      <p:sp>
        <p:nvSpPr>
          <p:cNvPr id="43" name="Text 36"/>
          <p:cNvSpPr/>
          <p:nvPr/>
        </p:nvSpPr>
        <p:spPr>
          <a:xfrm>
            <a:off x="7315200" y="2286000"/>
            <a:ext cx="1417320" cy="548640"/>
          </a:xfrm>
          <a:prstGeom prst="rect">
            <a:avLst/>
          </a:prstGeom>
          <a:noFill/>
          <a:ln/>
        </p:spPr>
        <p:txBody>
          <a:bodyPr wrap="square" rtlCol="0" anchor="ctr"/>
          <a:lstStyle/>
          <a:p>
            <a:pPr algn="ctr" indent="0" marL="0">
              <a:buNone/>
            </a:pPr>
            <a:r>
              <a:rPr lang="en-US" sz="1200" b="1" dirty="0">
                <a:solidFill>
                  <a:srgbClr val="0F172A"/>
                </a:solidFill>
                <a:latin typeface="Georgia" pitchFamily="34" charset="0"/>
                <a:ea typeface="Georgia" pitchFamily="34" charset="-122"/>
                <a:cs typeface="Georgia" pitchFamily="34" charset="-120"/>
              </a:rPr>
              <a:t>Validation</a:t>
            </a:r>
            <a:endParaRPr lang="en-US" sz="1200" dirty="0"/>
          </a:p>
          <a:p>
            <a:pPr algn="ctr" indent="0" marL="0">
              <a:buNone/>
            </a:pPr>
            <a:r>
              <a:rPr lang="en-US" sz="1200" b="1" dirty="0">
                <a:solidFill>
                  <a:srgbClr val="0F172A"/>
                </a:solidFill>
                <a:latin typeface="Georgia" pitchFamily="34" charset="0"/>
                <a:ea typeface="Georgia" pitchFamily="34" charset="-122"/>
                <a:cs typeface="Georgia" pitchFamily="34" charset="-120"/>
              </a:rPr>
              <a:t>Agent</a:t>
            </a:r>
            <a:endParaRPr lang="en-US" sz="1200" dirty="0"/>
          </a:p>
        </p:txBody>
      </p:sp>
      <p:sp>
        <p:nvSpPr>
          <p:cNvPr id="44" name="Shape 37"/>
          <p:cNvSpPr/>
          <p:nvPr/>
        </p:nvSpPr>
        <p:spPr>
          <a:xfrm>
            <a:off x="7543800" y="2880360"/>
            <a:ext cx="960120" cy="274320"/>
          </a:xfrm>
          <a:prstGeom prst="rectangle">
            <a:avLst/>
          </a:prstGeom>
          <a:solidFill>
            <a:srgbClr val="ECFDF5"/>
          </a:solidFill>
          <a:ln/>
        </p:spPr>
      </p:sp>
      <p:sp>
        <p:nvSpPr>
          <p:cNvPr id="45" name="Text 38"/>
          <p:cNvSpPr/>
          <p:nvPr/>
        </p:nvSpPr>
        <p:spPr>
          <a:xfrm>
            <a:off x="7543800" y="2880360"/>
            <a:ext cx="960120" cy="274320"/>
          </a:xfrm>
          <a:prstGeom prst="rect">
            <a:avLst/>
          </a:prstGeom>
          <a:noFill/>
          <a:ln/>
        </p:spPr>
        <p:txBody>
          <a:bodyPr wrap="square" rtlCol="0" anchor="ctr"/>
          <a:lstStyle/>
          <a:p>
            <a:pPr algn="ctr" indent="0" marL="0">
              <a:buNone/>
            </a:pPr>
            <a:r>
              <a:rPr lang="en-US" sz="1000" b="1" dirty="0">
                <a:solidFill>
                  <a:srgbClr val="10B981"/>
                </a:solidFill>
                <a:latin typeface="Calibri" pitchFamily="34" charset="0"/>
                <a:ea typeface="Calibri" pitchFamily="34" charset="-122"/>
                <a:cs typeface="Calibri" pitchFamily="34" charset="-120"/>
              </a:rPr>
              <a:t>Sonnet</a:t>
            </a:r>
            <a:endParaRPr lang="en-US" sz="1000" dirty="0"/>
          </a:p>
        </p:txBody>
      </p:sp>
      <p:sp>
        <p:nvSpPr>
          <p:cNvPr id="46" name="Text 39"/>
          <p:cNvSpPr/>
          <p:nvPr/>
        </p:nvSpPr>
        <p:spPr>
          <a:xfrm>
            <a:off x="7315200" y="3246120"/>
            <a:ext cx="1417320" cy="86868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P21 checks &amp; define.xml generation</a:t>
            </a:r>
            <a:endParaRPr lang="en-US" sz="900" dirty="0"/>
          </a:p>
        </p:txBody>
      </p:sp>
      <p:sp>
        <p:nvSpPr>
          <p:cNvPr id="47" name="Shape 40"/>
          <p:cNvSpPr/>
          <p:nvPr/>
        </p:nvSpPr>
        <p:spPr>
          <a:xfrm>
            <a:off x="457200" y="4434840"/>
            <a:ext cx="8229600" cy="320040"/>
          </a:xfrm>
          <a:prstGeom prst="rectangle">
            <a:avLst/>
          </a:prstGeom>
          <a:solidFill>
            <a:srgbClr val="EDE9FE"/>
          </a:solidFill>
          <a:ln/>
        </p:spPr>
      </p:sp>
      <p:sp>
        <p:nvSpPr>
          <p:cNvPr id="48" name="Text 41"/>
          <p:cNvSpPr/>
          <p:nvPr/>
        </p:nvSpPr>
        <p:spPr>
          <a:xfrm>
            <a:off x="594360" y="4434840"/>
            <a:ext cx="7955280" cy="320040"/>
          </a:xfrm>
          <a:prstGeom prst="rect">
            <a:avLst/>
          </a:prstGeom>
          <a:noFill/>
          <a:ln/>
        </p:spPr>
        <p:txBody>
          <a:bodyPr wrap="square" rtlCol="0" anchor="ctr"/>
          <a:lstStyle/>
          <a:p>
            <a:pPr indent="0" marL="0">
              <a:buNone/>
            </a:pPr>
            <a:r>
              <a:rPr lang="en-US" sz="1000" i="1" dirty="0">
                <a:solidFill>
                  <a:srgbClr val="8B5CF6"/>
                </a:solidFill>
                <a:latin typeface="Calibri" pitchFamily="34" charset="0"/>
                <a:ea typeface="Calibri" pitchFamily="34" charset="-122"/>
                <a:cs typeface="Calibri" pitchFamily="34" charset="-120"/>
              </a:rPr>
              <a:t>Design: Different LLMs for production (Sonnet) and QC (Opus) ensures genuine independence — like having two different programmers.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2286000" cy="320040"/>
          </a:xfrm>
          <a:prstGeom prst="rect">
            <a:avLst/>
          </a:prstGeom>
          <a:noFill/>
          <a:ln/>
        </p:spPr>
        <p:txBody>
          <a:bodyPr wrap="square"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Capstone Focus</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DM Domain: End-to-End Demo</a:t>
            </a:r>
            <a:endParaRPr lang="en-US" sz="2800" dirty="0"/>
          </a:p>
        </p:txBody>
      </p:sp>
      <p:sp>
        <p:nvSpPr>
          <p:cNvPr id="4" name="Text 2"/>
          <p:cNvSpPr/>
          <p:nvPr/>
        </p:nvSpPr>
        <p:spPr>
          <a:xfrm>
            <a:off x="457200" y="1051560"/>
            <a:ext cx="8229600" cy="32004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Study XYZ-2026-001: Phase III, Type 2 Diabetes, 6 sites, ~300 subjects</a:t>
            </a:r>
            <a:endParaRPr lang="en-US" sz="1300" dirty="0"/>
          </a:p>
        </p:txBody>
      </p:sp>
      <p:sp>
        <p:nvSpPr>
          <p:cNvPr id="5" name="Shape 3"/>
          <p:cNvSpPr/>
          <p:nvPr/>
        </p:nvSpPr>
        <p:spPr>
          <a:xfrm>
            <a:off x="0" y="4892040"/>
            <a:ext cx="9144000" cy="251460"/>
          </a:xfrm>
          <a:prstGeom prst="rectangle">
            <a:avLst/>
          </a:prstGeom>
          <a:solidFill>
            <a:srgbClr val="0F172A"/>
          </a:solidFill>
          <a:ln/>
        </p:spPr>
      </p:sp>
      <p:sp>
        <p:nvSpPr>
          <p:cNvPr id="6" name="Text 4"/>
          <p:cNvSpPr/>
          <p:nvPr/>
        </p:nvSpPr>
        <p:spPr>
          <a:xfrm>
            <a:off x="457200" y="4892040"/>
            <a:ext cx="8229600" cy="25146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AI for Clinical SAS Programmers  |  Training Program 2026</a:t>
            </a:r>
            <a:endParaRPr lang="en-US" sz="800" dirty="0"/>
          </a:p>
        </p:txBody>
      </p:sp>
      <p:sp>
        <p:nvSpPr>
          <p:cNvPr id="7" name="Text 5"/>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18 / 22</a:t>
            </a:r>
            <a:endParaRPr lang="en-US" sz="900" dirty="0"/>
          </a:p>
        </p:txBody>
      </p:sp>
      <p:sp>
        <p:nvSpPr>
          <p:cNvPr id="8" name="Shape 6"/>
          <p:cNvSpPr/>
          <p:nvPr/>
        </p:nvSpPr>
        <p:spPr>
          <a:xfrm>
            <a:off x="457200" y="1554480"/>
            <a:ext cx="3931920" cy="310896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57200" y="1554480"/>
            <a:ext cx="64008" cy="3108960"/>
          </a:xfrm>
          <a:prstGeom prst="rectangle">
            <a:avLst/>
          </a:prstGeom>
          <a:solidFill>
            <a:srgbClr val="EF4444"/>
          </a:solidFill>
          <a:ln/>
        </p:spPr>
      </p:sp>
      <p:sp>
        <p:nvSpPr>
          <p:cNvPr id="10" name="Text 8"/>
          <p:cNvSpPr/>
          <p:nvPr/>
        </p:nvSpPr>
        <p:spPr>
          <a:xfrm>
            <a:off x="731520" y="1645920"/>
            <a:ext cx="3474720" cy="365760"/>
          </a:xfrm>
          <a:prstGeom prst="rect">
            <a:avLst/>
          </a:prstGeom>
          <a:noFill/>
          <a:ln/>
        </p:spPr>
        <p:txBody>
          <a:bodyPr wrap="square" rtlCol="0" anchor="ctr"/>
          <a:lstStyle/>
          <a:p>
            <a:pPr indent="0" marL="0">
              <a:buNone/>
            </a:pPr>
            <a:r>
              <a:rPr lang="en-US" sz="1500" b="1" dirty="0">
                <a:solidFill>
                  <a:srgbClr val="0F172A"/>
                </a:solidFill>
                <a:latin typeface="Georgia" pitchFamily="34" charset="0"/>
                <a:ea typeface="Georgia" pitchFamily="34" charset="-122"/>
                <a:cs typeface="Georgia" pitchFamily="34" charset="-120"/>
              </a:rPr>
              <a:t>Raw Data Challenges</a:t>
            </a:r>
            <a:endParaRPr lang="en-US" sz="1500" dirty="0"/>
          </a:p>
        </p:txBody>
      </p:sp>
      <p:sp>
        <p:nvSpPr>
          <p:cNvPr id="11" name="Text 9"/>
          <p:cNvSpPr/>
          <p:nvPr/>
        </p:nvSpPr>
        <p:spPr>
          <a:xfrm>
            <a:off x="731520" y="2057400"/>
            <a:ext cx="3474720" cy="2377440"/>
          </a:xfrm>
          <a:prstGeom prst="rect">
            <a:avLst/>
          </a:prstGeom>
          <a:noFill/>
          <a:ln/>
        </p:spPr>
        <p:txBody>
          <a:bodyPr wrap="square" rtlCol="0" anchor="ctr"/>
          <a:lstStyle/>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Mixed SEX coding: Male/Female, M/F, 1/2 across sites</a:t>
            </a:r>
            <a:endParaRPr lang="en-US" sz="1100" dirty="0"/>
          </a:p>
          <a:p>
            <a:pPr indent="0" marL="0">
              <a:spcAft>
                <a:spcPts val="200"/>
              </a:spcAft>
              <a:buNone/>
            </a:pP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Inconsistent date formats: DD-MON-YYYY, MM/DD/YYYY, YYYY-MM-DD</a:t>
            </a:r>
            <a:endParaRPr lang="en-US" sz="1100" dirty="0"/>
          </a:p>
          <a:p>
            <a:pPr indent="0" marL="0">
              <a:spcAft>
                <a:spcPts val="200"/>
              </a:spcAft>
              <a:buNone/>
            </a:pP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Mixed case RACE values: WHITE, White, white</a:t>
            </a:r>
            <a:endParaRPr lang="en-US" sz="1100" dirty="0"/>
          </a:p>
          <a:p>
            <a:pPr indent="0" marL="0">
              <a:spcAft>
                <a:spcPts val="200"/>
              </a:spcAft>
              <a:buNone/>
            </a:pP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Missing ethnicity data (~27%)</a:t>
            </a:r>
            <a:endParaRPr lang="en-US" sz="1100" dirty="0"/>
          </a:p>
          <a:p>
            <a:pPr indent="0" marL="0">
              <a:spcAft>
                <a:spcPts val="200"/>
              </a:spcAft>
              <a:buNone/>
            </a:pP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Trailing spaces, inconsistent coding</a:t>
            </a:r>
            <a:endParaRPr lang="en-US" sz="1100" dirty="0"/>
          </a:p>
          <a:p>
            <a:pPr indent="0" marL="0">
              <a:spcAft>
                <a:spcPts val="200"/>
              </a:spcAft>
              <a:buNone/>
            </a:pP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6.7% missing RACE values</a:t>
            </a:r>
            <a:endParaRPr lang="en-US" sz="1100" dirty="0"/>
          </a:p>
        </p:txBody>
      </p:sp>
      <p:sp>
        <p:nvSpPr>
          <p:cNvPr id="12" name="Shape 10"/>
          <p:cNvSpPr/>
          <p:nvPr/>
        </p:nvSpPr>
        <p:spPr>
          <a:xfrm>
            <a:off x="4754880" y="1554480"/>
            <a:ext cx="3931920" cy="310896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4754880" y="1554480"/>
            <a:ext cx="64008" cy="3108960"/>
          </a:xfrm>
          <a:prstGeom prst="rectangle">
            <a:avLst/>
          </a:prstGeom>
          <a:solidFill>
            <a:srgbClr val="10B981"/>
          </a:solidFill>
          <a:ln/>
        </p:spPr>
      </p:sp>
      <p:sp>
        <p:nvSpPr>
          <p:cNvPr id="14" name="Text 12"/>
          <p:cNvSpPr/>
          <p:nvPr/>
        </p:nvSpPr>
        <p:spPr>
          <a:xfrm>
            <a:off x="5029200" y="1645920"/>
            <a:ext cx="3474720" cy="365760"/>
          </a:xfrm>
          <a:prstGeom prst="rect">
            <a:avLst/>
          </a:prstGeom>
          <a:noFill/>
          <a:ln/>
        </p:spPr>
        <p:txBody>
          <a:bodyPr wrap="square" rtlCol="0" anchor="ctr"/>
          <a:lstStyle/>
          <a:p>
            <a:pPr indent="0" marL="0">
              <a:buNone/>
            </a:pPr>
            <a:r>
              <a:rPr lang="en-US" sz="1500" b="1" dirty="0">
                <a:solidFill>
                  <a:srgbClr val="0F172A"/>
                </a:solidFill>
                <a:latin typeface="Georgia" pitchFamily="34" charset="0"/>
                <a:ea typeface="Georgia" pitchFamily="34" charset="-122"/>
                <a:cs typeface="Georgia" pitchFamily="34" charset="-120"/>
              </a:rPr>
              <a:t>Target: SDTM DM Dataset</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892040" y="2103120"/>
          <a:ext cx="3657600" cy="2377440"/>
        </p:xfrm>
        <a:graphic>
          <a:graphicData uri="http://schemas.openxmlformats.org/drawingml/2006/table">
            <a:tbl>
              <a:tblPr/>
              <a:tblGrid>
                <a:gridCol w="1371600"/>
                <a:gridCol w="2286000"/>
              </a:tblGrid>
              <a:tr h="237744">
                <a:tc>
                  <a:txBody>
                    <a:bodyPr/>
                    <a:lstStyle/>
                    <a:p>
                      <a:pPr indent="0" marL="0">
                        <a:buNone/>
                      </a:pPr>
                      <a:r>
                        <a:rPr lang="en-US" sz="1000" b="1" dirty="0">
                          <a:solidFill>
                            <a:srgbClr val="0891B2"/>
                          </a:solidFill>
                          <a:latin typeface="Consolas" pitchFamily="34" charset="0"/>
                          <a:ea typeface="Consolas" pitchFamily="34" charset="-122"/>
                          <a:cs typeface="Consolas" pitchFamily="34" charset="-120"/>
                        </a:rPr>
                        <a:t>STUDYID</a:t>
                      </a:r>
                      <a:endParaRPr lang="en-US" sz="10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XYZ-2026-001</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37744">
                <a:tc>
                  <a:txBody>
                    <a:bodyPr/>
                    <a:lstStyle/>
                    <a:p>
                      <a:pPr indent="0" marL="0">
                        <a:buNone/>
                      </a:pPr>
                      <a:r>
                        <a:rPr lang="en-US" sz="1000" b="1" dirty="0">
                          <a:solidFill>
                            <a:srgbClr val="0891B2"/>
                          </a:solidFill>
                          <a:latin typeface="Consolas" pitchFamily="34" charset="0"/>
                          <a:ea typeface="Consolas" pitchFamily="34" charset="-122"/>
                          <a:cs typeface="Consolas" pitchFamily="34" charset="-120"/>
                        </a:rPr>
                        <a:t>DOMAIN</a:t>
                      </a:r>
                      <a:endParaRPr lang="en-US" sz="10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37744">
                <a:tc>
                  <a:txBody>
                    <a:bodyPr/>
                    <a:lstStyle/>
                    <a:p>
                      <a:pPr indent="0" marL="0">
                        <a:buNone/>
                      </a:pPr>
                      <a:r>
                        <a:rPr lang="en-US" sz="1000" b="1" dirty="0">
                          <a:solidFill>
                            <a:srgbClr val="0891B2"/>
                          </a:solidFill>
                          <a:latin typeface="Consolas" pitchFamily="34" charset="0"/>
                          <a:ea typeface="Consolas" pitchFamily="34" charset="-122"/>
                          <a:cs typeface="Consolas" pitchFamily="34" charset="-120"/>
                        </a:rPr>
                        <a:t>USUBJID</a:t>
                      </a:r>
                      <a:endParaRPr lang="en-US" sz="10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XYZ-2026-001-101-001</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37744">
                <a:tc>
                  <a:txBody>
                    <a:bodyPr/>
                    <a:lstStyle/>
                    <a:p>
                      <a:pPr indent="0" marL="0">
                        <a:buNone/>
                      </a:pPr>
                      <a:r>
                        <a:rPr lang="en-US" sz="1000" b="1" dirty="0">
                          <a:solidFill>
                            <a:srgbClr val="0891B2"/>
                          </a:solidFill>
                          <a:latin typeface="Consolas" pitchFamily="34" charset="0"/>
                          <a:ea typeface="Consolas" pitchFamily="34" charset="-122"/>
                          <a:cs typeface="Consolas" pitchFamily="34" charset="-120"/>
                        </a:rPr>
                        <a:t>SUBJID</a:t>
                      </a:r>
                      <a:endParaRPr lang="en-US" sz="10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101-001</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37744">
                <a:tc>
                  <a:txBody>
                    <a:bodyPr/>
                    <a:lstStyle/>
                    <a:p>
                      <a:pPr indent="0" marL="0">
                        <a:buNone/>
                      </a:pPr>
                      <a:r>
                        <a:rPr lang="en-US" sz="1000" b="1" dirty="0">
                          <a:solidFill>
                            <a:srgbClr val="0891B2"/>
                          </a:solidFill>
                          <a:latin typeface="Consolas" pitchFamily="34" charset="0"/>
                          <a:ea typeface="Consolas" pitchFamily="34" charset="-122"/>
                          <a:cs typeface="Consolas" pitchFamily="34" charset="-120"/>
                        </a:rPr>
                        <a:t>SEX</a:t>
                      </a:r>
                      <a:endParaRPr lang="en-US" sz="10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 / F (C66731)</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37744">
                <a:tc>
                  <a:txBody>
                    <a:bodyPr/>
                    <a:lstStyle/>
                    <a:p>
                      <a:pPr indent="0" marL="0">
                        <a:buNone/>
                      </a:pPr>
                      <a:r>
                        <a:rPr lang="en-US" sz="1000" b="1" dirty="0">
                          <a:solidFill>
                            <a:srgbClr val="0891B2"/>
                          </a:solidFill>
                          <a:latin typeface="Consolas" pitchFamily="34" charset="0"/>
                          <a:ea typeface="Consolas" pitchFamily="34" charset="-122"/>
                          <a:cs typeface="Consolas" pitchFamily="34" charset="-120"/>
                        </a:rPr>
                        <a:t>RACE</a:t>
                      </a:r>
                      <a:endParaRPr lang="en-US" sz="10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WHITE (C74457)</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37744">
                <a:tc>
                  <a:txBody>
                    <a:bodyPr/>
                    <a:lstStyle/>
                    <a:p>
                      <a:pPr indent="0" marL="0">
                        <a:buNone/>
                      </a:pPr>
                      <a:r>
                        <a:rPr lang="en-US" sz="1000" b="1" dirty="0">
                          <a:solidFill>
                            <a:srgbClr val="0891B2"/>
                          </a:solidFill>
                          <a:latin typeface="Consolas" pitchFamily="34" charset="0"/>
                          <a:ea typeface="Consolas" pitchFamily="34" charset="-122"/>
                          <a:cs typeface="Consolas" pitchFamily="34" charset="-120"/>
                        </a:rPr>
                        <a:t>ETHNIC</a:t>
                      </a:r>
                      <a:endParaRPr lang="en-US" sz="10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NOT HISPANIC...</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37744">
                <a:tc>
                  <a:txBody>
                    <a:bodyPr/>
                    <a:lstStyle/>
                    <a:p>
                      <a:pPr indent="0" marL="0">
                        <a:buNone/>
                      </a:pPr>
                      <a:r>
                        <a:rPr lang="en-US" sz="1000" b="1" dirty="0">
                          <a:solidFill>
                            <a:srgbClr val="0891B2"/>
                          </a:solidFill>
                          <a:latin typeface="Consolas" pitchFamily="34" charset="0"/>
                          <a:ea typeface="Consolas" pitchFamily="34" charset="-122"/>
                          <a:cs typeface="Consolas" pitchFamily="34" charset="-120"/>
                        </a:rPr>
                        <a:t>AGE / AGEU</a:t>
                      </a:r>
                      <a:endParaRPr lang="en-US" sz="10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52 / YEARS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37744">
                <a:tc>
                  <a:txBody>
                    <a:bodyPr/>
                    <a:lstStyle/>
                    <a:p>
                      <a:pPr indent="0" marL="0">
                        <a:buNone/>
                      </a:pPr>
                      <a:r>
                        <a:rPr lang="en-US" sz="1000" b="1" dirty="0">
                          <a:solidFill>
                            <a:srgbClr val="0891B2"/>
                          </a:solidFill>
                          <a:latin typeface="Consolas" pitchFamily="34" charset="0"/>
                          <a:ea typeface="Consolas" pitchFamily="34" charset="-122"/>
                          <a:cs typeface="Consolas" pitchFamily="34" charset="-120"/>
                        </a:rPr>
                        <a:t>ARM / ARMCD</a:t>
                      </a:r>
                      <a:endParaRPr lang="en-US" sz="10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Glucotrex 10mg / TRT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37744">
                <a:tc>
                  <a:txBody>
                    <a:bodyPr/>
                    <a:lstStyle/>
                    <a:p>
                      <a:pPr indent="0" marL="0">
                        <a:buNone/>
                      </a:pPr>
                      <a:r>
                        <a:rPr lang="en-US" sz="1000" b="1" dirty="0">
                          <a:solidFill>
                            <a:srgbClr val="0891B2"/>
                          </a:solidFill>
                          <a:latin typeface="Consolas" pitchFamily="34" charset="0"/>
                          <a:ea typeface="Consolas" pitchFamily="34" charset="-122"/>
                          <a:cs typeface="Consolas" pitchFamily="34" charset="-120"/>
                        </a:rPr>
                        <a:t>RFSTDTC</a:t>
                      </a:r>
                      <a:endParaRPr lang="en-US" sz="1000" dirty="0">
                        <a:latin typeface="Consolas" charset="0"/>
                        <a:ea typeface="Consolas" charset="0"/>
                        <a:cs typeface="Consolas"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2025-06-15</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1828800" cy="320040"/>
          </a:xfrm>
          <a:prstGeom prst="rect">
            <a:avLst/>
          </a:prstGeom>
          <a:noFill/>
          <a:ln/>
        </p:spPr>
        <p:txBody>
          <a:bodyPr wrap="square"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Module 3.4</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Double Programming &amp; Comparison</a:t>
            </a:r>
            <a:endParaRPr lang="en-US" sz="2800" dirty="0"/>
          </a:p>
        </p:txBody>
      </p:sp>
      <p:sp>
        <p:nvSpPr>
          <p:cNvPr id="4" name="Shape 2"/>
          <p:cNvSpPr/>
          <p:nvPr/>
        </p:nvSpPr>
        <p:spPr>
          <a:xfrm>
            <a:off x="0" y="4892040"/>
            <a:ext cx="9144000" cy="251460"/>
          </a:xfrm>
          <a:prstGeom prst="rectangle">
            <a:avLst/>
          </a:prstGeom>
          <a:solidFill>
            <a:srgbClr val="0F172A"/>
          </a:solidFill>
          <a:ln/>
        </p:spPr>
      </p:sp>
      <p:sp>
        <p:nvSpPr>
          <p:cNvPr id="5" name="Text 3"/>
          <p:cNvSpPr/>
          <p:nvPr/>
        </p:nvSpPr>
        <p:spPr>
          <a:xfrm>
            <a:off x="457200" y="4892040"/>
            <a:ext cx="8229600" cy="25146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AI for Clinical SAS Programmers  |  Training Program 2026</a:t>
            </a:r>
            <a:endParaRPr lang="en-US" sz="800" dirty="0"/>
          </a:p>
        </p:txBody>
      </p:sp>
      <p:sp>
        <p:nvSpPr>
          <p:cNvPr id="6" name="Text 4"/>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19 / 22</a:t>
            </a:r>
            <a:endParaRPr lang="en-US" sz="900" dirty="0"/>
          </a:p>
        </p:txBody>
      </p:sp>
      <p:sp>
        <p:nvSpPr>
          <p:cNvPr id="7" name="Shape 5"/>
          <p:cNvSpPr/>
          <p:nvPr/>
        </p:nvSpPr>
        <p:spPr>
          <a:xfrm>
            <a:off x="2971800" y="1280160"/>
            <a:ext cx="3200400" cy="502920"/>
          </a:xfrm>
          <a:prstGeom prst="rectangle">
            <a:avLst/>
          </a:prstGeom>
          <a:solidFill>
            <a:srgbClr val="0F172A"/>
          </a:solidFill>
          <a:ln/>
        </p:spPr>
      </p:sp>
      <p:sp>
        <p:nvSpPr>
          <p:cNvPr id="8" name="Text 6"/>
          <p:cNvSpPr/>
          <p:nvPr/>
        </p:nvSpPr>
        <p:spPr>
          <a:xfrm>
            <a:off x="2971800" y="1280160"/>
            <a:ext cx="32004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Approved Mapping Specification</a:t>
            </a:r>
            <a:endParaRPr lang="en-US" sz="1200" dirty="0"/>
          </a:p>
        </p:txBody>
      </p:sp>
      <p:sp>
        <p:nvSpPr>
          <p:cNvPr id="9" name="Shape 7"/>
          <p:cNvSpPr/>
          <p:nvPr/>
        </p:nvSpPr>
        <p:spPr>
          <a:xfrm>
            <a:off x="457200" y="2103120"/>
            <a:ext cx="3474720" cy="502920"/>
          </a:xfrm>
          <a:prstGeom prst="rectangle">
            <a:avLst/>
          </a:prstGeom>
          <a:solidFill>
            <a:srgbClr val="0891B2"/>
          </a:solidFill>
          <a:ln/>
        </p:spPr>
      </p:sp>
      <p:sp>
        <p:nvSpPr>
          <p:cNvPr id="10" name="Text 8"/>
          <p:cNvSpPr/>
          <p:nvPr/>
        </p:nvSpPr>
        <p:spPr>
          <a:xfrm>
            <a:off x="457200" y="2103120"/>
            <a:ext cx="347472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Production Programmer (Sonnet)</a:t>
            </a:r>
            <a:endParaRPr lang="en-US" sz="1200" dirty="0"/>
          </a:p>
        </p:txBody>
      </p:sp>
      <p:sp>
        <p:nvSpPr>
          <p:cNvPr id="11" name="Shape 9"/>
          <p:cNvSpPr/>
          <p:nvPr/>
        </p:nvSpPr>
        <p:spPr>
          <a:xfrm>
            <a:off x="457200" y="2743200"/>
            <a:ext cx="3474720" cy="41148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12" name="Text 10"/>
          <p:cNvSpPr/>
          <p:nvPr/>
        </p:nvSpPr>
        <p:spPr>
          <a:xfrm>
            <a:off x="457200" y="2743200"/>
            <a:ext cx="3474720" cy="411480"/>
          </a:xfrm>
          <a:prstGeom prst="rect">
            <a:avLst/>
          </a:prstGeom>
          <a:noFill/>
          <a:ln/>
        </p:spPr>
        <p:txBody>
          <a:bodyPr wrap="square"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Generates SAS code from spec</a:t>
            </a:r>
            <a:endParaRPr lang="en-US" sz="1100" dirty="0"/>
          </a:p>
        </p:txBody>
      </p:sp>
      <p:sp>
        <p:nvSpPr>
          <p:cNvPr id="13" name="Shape 11"/>
          <p:cNvSpPr/>
          <p:nvPr/>
        </p:nvSpPr>
        <p:spPr>
          <a:xfrm>
            <a:off x="457200" y="3291840"/>
            <a:ext cx="3474720" cy="41148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14" name="Text 12"/>
          <p:cNvSpPr/>
          <p:nvPr/>
        </p:nvSpPr>
        <p:spPr>
          <a:xfrm>
            <a:off x="457200" y="3291840"/>
            <a:ext cx="3474720" cy="411480"/>
          </a:xfrm>
          <a:prstGeom prst="rect">
            <a:avLst/>
          </a:prstGeom>
          <a:noFill/>
          <a:ln/>
        </p:spPr>
        <p:txBody>
          <a:bodyPr wrap="square"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Saves to permanent library</a:t>
            </a:r>
            <a:endParaRPr lang="en-US" sz="1100" dirty="0"/>
          </a:p>
        </p:txBody>
      </p:sp>
      <p:sp>
        <p:nvSpPr>
          <p:cNvPr id="15" name="Shape 13"/>
          <p:cNvSpPr/>
          <p:nvPr/>
        </p:nvSpPr>
        <p:spPr>
          <a:xfrm>
            <a:off x="5212080" y="2103120"/>
            <a:ext cx="3474720" cy="502920"/>
          </a:xfrm>
          <a:prstGeom prst="rectangle">
            <a:avLst/>
          </a:prstGeom>
          <a:solidFill>
            <a:srgbClr val="8B5CF6"/>
          </a:solidFill>
          <a:ln/>
        </p:spPr>
      </p:sp>
      <p:sp>
        <p:nvSpPr>
          <p:cNvPr id="16" name="Text 14"/>
          <p:cNvSpPr/>
          <p:nvPr/>
        </p:nvSpPr>
        <p:spPr>
          <a:xfrm>
            <a:off x="5212080" y="2103120"/>
            <a:ext cx="347472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QC Programmer (Opus)</a:t>
            </a:r>
            <a:endParaRPr lang="en-US" sz="1200" dirty="0"/>
          </a:p>
        </p:txBody>
      </p:sp>
      <p:sp>
        <p:nvSpPr>
          <p:cNvPr id="17" name="Shape 15"/>
          <p:cNvSpPr/>
          <p:nvPr/>
        </p:nvSpPr>
        <p:spPr>
          <a:xfrm>
            <a:off x="5212080" y="2743200"/>
            <a:ext cx="3474720" cy="41148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18" name="Text 16"/>
          <p:cNvSpPr/>
          <p:nvPr/>
        </p:nvSpPr>
        <p:spPr>
          <a:xfrm>
            <a:off x="5212080" y="2743200"/>
            <a:ext cx="3474720" cy="411480"/>
          </a:xfrm>
          <a:prstGeom prst="rect">
            <a:avLst/>
          </a:prstGeom>
          <a:noFill/>
          <a:ln/>
        </p:spPr>
        <p:txBody>
          <a:bodyPr wrap="square"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Independent SAS code generation</a:t>
            </a:r>
            <a:endParaRPr lang="en-US" sz="1100" dirty="0"/>
          </a:p>
        </p:txBody>
      </p:sp>
      <p:sp>
        <p:nvSpPr>
          <p:cNvPr id="19" name="Shape 17"/>
          <p:cNvSpPr/>
          <p:nvPr/>
        </p:nvSpPr>
        <p:spPr>
          <a:xfrm>
            <a:off x="5212080" y="3291840"/>
            <a:ext cx="3474720" cy="41148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20" name="Text 18"/>
          <p:cNvSpPr/>
          <p:nvPr/>
        </p:nvSpPr>
        <p:spPr>
          <a:xfrm>
            <a:off x="5212080" y="3291840"/>
            <a:ext cx="3474720" cy="411480"/>
          </a:xfrm>
          <a:prstGeom prst="rect">
            <a:avLst/>
          </a:prstGeom>
          <a:noFill/>
          <a:ln/>
        </p:spPr>
        <p:txBody>
          <a:bodyPr wrap="square" rtlCol="0" anchor="ctr"/>
          <a:lstStyle/>
          <a:p>
            <a:pPr algn="ctr" indent="0" marL="0">
              <a:buNone/>
            </a:pPr>
            <a:r>
              <a:rPr lang="en-US" sz="1100" i="1" dirty="0">
                <a:solidFill>
                  <a:srgbClr val="1E293B"/>
                </a:solidFill>
                <a:latin typeface="Calibri" pitchFamily="34" charset="0"/>
                <a:ea typeface="Calibri" pitchFamily="34" charset="-122"/>
                <a:cs typeface="Calibri" pitchFamily="34" charset="-120"/>
              </a:rPr>
              <a:t>Does NOT see production code</a:t>
            </a:r>
            <a:endParaRPr lang="en-US" sz="1100" dirty="0"/>
          </a:p>
        </p:txBody>
      </p:sp>
      <p:sp>
        <p:nvSpPr>
          <p:cNvPr id="21" name="Shape 19"/>
          <p:cNvSpPr/>
          <p:nvPr/>
        </p:nvSpPr>
        <p:spPr>
          <a:xfrm>
            <a:off x="2514600" y="3931920"/>
            <a:ext cx="4114800" cy="502920"/>
          </a:xfrm>
          <a:prstGeom prst="rectangle">
            <a:avLst/>
          </a:prstGeom>
          <a:solidFill>
            <a:srgbClr val="F59E0B"/>
          </a:solidFill>
          <a:ln/>
        </p:spPr>
      </p:sp>
      <p:sp>
        <p:nvSpPr>
          <p:cNvPr id="22" name="Text 20"/>
          <p:cNvSpPr/>
          <p:nvPr/>
        </p:nvSpPr>
        <p:spPr>
          <a:xfrm>
            <a:off x="2514600" y="3931920"/>
            <a:ext cx="41148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PROC COMPARE → 100% Match Required</a:t>
            </a:r>
            <a:endParaRPr lang="en-US" sz="1300" dirty="0"/>
          </a:p>
        </p:txBody>
      </p:sp>
      <p:sp>
        <p:nvSpPr>
          <p:cNvPr id="23" name="Shape 21"/>
          <p:cNvSpPr/>
          <p:nvPr/>
        </p:nvSpPr>
        <p:spPr>
          <a:xfrm>
            <a:off x="457200" y="4526280"/>
            <a:ext cx="8229600" cy="228600"/>
          </a:xfrm>
          <a:prstGeom prst="rectangle">
            <a:avLst/>
          </a:prstGeom>
          <a:solidFill>
            <a:srgbClr val="FEF3C7"/>
          </a:solidFill>
          <a:ln/>
        </p:spPr>
      </p:sp>
      <p:sp>
        <p:nvSpPr>
          <p:cNvPr id="24" name="Text 22"/>
          <p:cNvSpPr/>
          <p:nvPr/>
        </p:nvSpPr>
        <p:spPr>
          <a:xfrm>
            <a:off x="640080" y="4526280"/>
            <a:ext cx="7863840" cy="228600"/>
          </a:xfrm>
          <a:prstGeom prst="rect">
            <a:avLst/>
          </a:prstGeom>
          <a:noFill/>
          <a:ln/>
        </p:spPr>
        <p:txBody>
          <a:bodyPr wrap="square" rtlCol="0" anchor="ctr"/>
          <a:lstStyle/>
          <a:p>
            <a:pPr indent="0" marL="0">
              <a:buNone/>
            </a:pPr>
            <a:r>
              <a:rPr lang="en-US" sz="1000" i="1" dirty="0">
                <a:solidFill>
                  <a:srgbClr val="1E293B"/>
                </a:solidFill>
                <a:latin typeface="Calibri" pitchFamily="34" charset="0"/>
                <a:ea typeface="Calibri" pitchFamily="34" charset="-122"/>
                <a:cs typeface="Calibri" pitchFamily="34" charset="-120"/>
              </a:rPr>
              <a:t>↻  Mismatch? Both agents review logic against spec, correct, and re-run until PROC COMPARE shows zero differences.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1828800" cy="320040"/>
          </a:xfrm>
          <a:prstGeom prst="rect">
            <a:avLst/>
          </a:prstGeom>
          <a:noFill/>
          <a:ln/>
        </p:spPr>
        <p:txBody>
          <a:bodyPr wrap="square"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Module 3.5</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Validation &amp; Define.xml</a:t>
            </a:r>
            <a:endParaRPr lang="en-US" sz="3000" dirty="0"/>
          </a:p>
        </p:txBody>
      </p:sp>
      <p:sp>
        <p:nvSpPr>
          <p:cNvPr id="4" name="Shape 2"/>
          <p:cNvSpPr/>
          <p:nvPr/>
        </p:nvSpPr>
        <p:spPr>
          <a:xfrm>
            <a:off x="0" y="4892040"/>
            <a:ext cx="9144000" cy="251460"/>
          </a:xfrm>
          <a:prstGeom prst="rectangle">
            <a:avLst/>
          </a:prstGeom>
          <a:solidFill>
            <a:srgbClr val="0F172A"/>
          </a:solidFill>
          <a:ln/>
        </p:spPr>
      </p:sp>
      <p:sp>
        <p:nvSpPr>
          <p:cNvPr id="5" name="Text 3"/>
          <p:cNvSpPr/>
          <p:nvPr/>
        </p:nvSpPr>
        <p:spPr>
          <a:xfrm>
            <a:off x="457200" y="4892040"/>
            <a:ext cx="8229600" cy="25146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AI for Clinical SAS Programmers  |  Training Program 2026</a:t>
            </a:r>
            <a:endParaRPr lang="en-US" sz="800" dirty="0"/>
          </a:p>
        </p:txBody>
      </p:sp>
      <p:sp>
        <p:nvSpPr>
          <p:cNvPr id="6" name="Text 4"/>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20 / 22</a:t>
            </a:r>
            <a:endParaRPr lang="en-US" sz="900" dirty="0"/>
          </a:p>
        </p:txBody>
      </p:sp>
      <p:sp>
        <p:nvSpPr>
          <p:cNvPr id="7" name="Shape 5"/>
          <p:cNvSpPr/>
          <p:nvPr/>
        </p:nvSpPr>
        <p:spPr>
          <a:xfrm>
            <a:off x="457200" y="1463040"/>
            <a:ext cx="2651760" cy="228600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8" name="Shape 6"/>
          <p:cNvSpPr/>
          <p:nvPr/>
        </p:nvSpPr>
        <p:spPr>
          <a:xfrm>
            <a:off x="457200" y="1463040"/>
            <a:ext cx="2651760" cy="54864"/>
          </a:xfrm>
          <a:prstGeom prst="rectangle">
            <a:avLst/>
          </a:prstGeom>
          <a:solidFill>
            <a:srgbClr val="0891B2"/>
          </a:solidFill>
          <a:ln/>
        </p:spPr>
      </p:sp>
      <p:sp>
        <p:nvSpPr>
          <p:cNvPr id="9" name="Shape 7"/>
          <p:cNvSpPr/>
          <p:nvPr/>
        </p:nvSpPr>
        <p:spPr>
          <a:xfrm>
            <a:off x="1463040" y="1691640"/>
            <a:ext cx="640080" cy="640080"/>
          </a:xfrm>
          <a:prstGeom prst="oval">
            <a:avLst/>
          </a:prstGeom>
          <a:solidFill>
            <a:srgbClr val="0891B2">
              <a:alpha val="15000"/>
            </a:srgbClr>
          </a:solidFill>
          <a:ln/>
        </p:spPr>
      </p:sp>
      <p:sp>
        <p:nvSpPr>
          <p:cNvPr id="10" name="Text 8"/>
          <p:cNvSpPr/>
          <p:nvPr/>
        </p:nvSpPr>
        <p:spPr>
          <a:xfrm>
            <a:off x="1463040" y="1691640"/>
            <a:ext cx="640080" cy="640080"/>
          </a:xfrm>
          <a:prstGeom prst="rect">
            <a:avLst/>
          </a:prstGeom>
          <a:noFill/>
          <a:ln/>
        </p:spPr>
        <p:txBody>
          <a:bodyPr wrap="square" rtlCol="0" anchor="ctr"/>
          <a:lstStyle/>
          <a:p>
            <a:pPr algn="ctr" indent="0" marL="0">
              <a:buNone/>
            </a:pPr>
            <a:r>
              <a:rPr lang="en-US" sz="2400" b="1" dirty="0">
                <a:solidFill>
                  <a:srgbClr val="0891B2"/>
                </a:solidFill>
                <a:latin typeface="Georgia" pitchFamily="34" charset="0"/>
                <a:ea typeface="Georgia" pitchFamily="34" charset="-122"/>
                <a:cs typeface="Georgia" pitchFamily="34" charset="-120"/>
              </a:rPr>
              <a:t>1</a:t>
            </a:r>
            <a:endParaRPr lang="en-US" sz="2400" dirty="0"/>
          </a:p>
        </p:txBody>
      </p:sp>
      <p:sp>
        <p:nvSpPr>
          <p:cNvPr id="11" name="Text 9"/>
          <p:cNvSpPr/>
          <p:nvPr/>
        </p:nvSpPr>
        <p:spPr>
          <a:xfrm>
            <a:off x="640080" y="2468880"/>
            <a:ext cx="2286000" cy="365760"/>
          </a:xfrm>
          <a:prstGeom prst="rect">
            <a:avLst/>
          </a:prstGeom>
          <a:noFill/>
          <a:ln/>
        </p:spPr>
        <p:txBody>
          <a:bodyPr wrap="square" rtlCol="0" anchor="ctr"/>
          <a:lstStyle/>
          <a:p>
            <a:pPr algn="ctr" indent="0" marL="0">
              <a:buNone/>
            </a:pPr>
            <a:r>
              <a:rPr lang="en-US" sz="1400" b="1" dirty="0">
                <a:solidFill>
                  <a:srgbClr val="0F172A"/>
                </a:solidFill>
                <a:latin typeface="Georgia" pitchFamily="34" charset="0"/>
                <a:ea typeface="Georgia" pitchFamily="34" charset="-122"/>
                <a:cs typeface="Georgia" pitchFamily="34" charset="-120"/>
              </a:rPr>
              <a:t>P21 Spec Sheet</a:t>
            </a:r>
            <a:endParaRPr lang="en-US" sz="1400" dirty="0"/>
          </a:p>
        </p:txBody>
      </p:sp>
      <p:sp>
        <p:nvSpPr>
          <p:cNvPr id="12" name="Text 10"/>
          <p:cNvSpPr/>
          <p:nvPr/>
        </p:nvSpPr>
        <p:spPr>
          <a:xfrm>
            <a:off x="640080" y="2880360"/>
            <a:ext cx="2286000" cy="7315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Validation Agent fills out the Pinnacle 21 specification using the approved mapping spec</a:t>
            </a:r>
            <a:endParaRPr lang="en-US" sz="1100" dirty="0"/>
          </a:p>
        </p:txBody>
      </p:sp>
      <p:sp>
        <p:nvSpPr>
          <p:cNvPr id="13" name="Shape 11"/>
          <p:cNvSpPr/>
          <p:nvPr/>
        </p:nvSpPr>
        <p:spPr>
          <a:xfrm>
            <a:off x="3337560" y="1463040"/>
            <a:ext cx="2651760" cy="228600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14" name="Shape 12"/>
          <p:cNvSpPr/>
          <p:nvPr/>
        </p:nvSpPr>
        <p:spPr>
          <a:xfrm>
            <a:off x="3337560" y="1463040"/>
            <a:ext cx="2651760" cy="54864"/>
          </a:xfrm>
          <a:prstGeom prst="rectangle">
            <a:avLst/>
          </a:prstGeom>
          <a:solidFill>
            <a:srgbClr val="F59E0B"/>
          </a:solidFill>
          <a:ln/>
        </p:spPr>
      </p:sp>
      <p:sp>
        <p:nvSpPr>
          <p:cNvPr id="15" name="Shape 13"/>
          <p:cNvSpPr/>
          <p:nvPr/>
        </p:nvSpPr>
        <p:spPr>
          <a:xfrm>
            <a:off x="4343400" y="1691640"/>
            <a:ext cx="640080" cy="640080"/>
          </a:xfrm>
          <a:prstGeom prst="oval">
            <a:avLst/>
          </a:prstGeom>
          <a:solidFill>
            <a:srgbClr val="F59E0B">
              <a:alpha val="15000"/>
            </a:srgbClr>
          </a:solidFill>
          <a:ln/>
        </p:spPr>
      </p:sp>
      <p:sp>
        <p:nvSpPr>
          <p:cNvPr id="16" name="Text 14"/>
          <p:cNvSpPr/>
          <p:nvPr/>
        </p:nvSpPr>
        <p:spPr>
          <a:xfrm>
            <a:off x="4343400" y="1691640"/>
            <a:ext cx="640080" cy="640080"/>
          </a:xfrm>
          <a:prstGeom prst="rect">
            <a:avLst/>
          </a:prstGeom>
          <a:noFill/>
          <a:ln/>
        </p:spPr>
        <p:txBody>
          <a:bodyPr wrap="square" rtlCol="0" anchor="ctr"/>
          <a:lstStyle/>
          <a:p>
            <a:pPr algn="ctr" indent="0" marL="0">
              <a:buNone/>
            </a:pPr>
            <a:r>
              <a:rPr lang="en-US" sz="2400" b="1" dirty="0">
                <a:solidFill>
                  <a:srgbClr val="F59E0B"/>
                </a:solidFill>
                <a:latin typeface="Georgia" pitchFamily="34" charset="0"/>
                <a:ea typeface="Georgia" pitchFamily="34" charset="-122"/>
                <a:cs typeface="Georgia" pitchFamily="34" charset="-120"/>
              </a:rPr>
              <a:t>2</a:t>
            </a:r>
            <a:endParaRPr lang="en-US" sz="2400" dirty="0"/>
          </a:p>
        </p:txBody>
      </p:sp>
      <p:sp>
        <p:nvSpPr>
          <p:cNvPr id="17" name="Text 15"/>
          <p:cNvSpPr/>
          <p:nvPr/>
        </p:nvSpPr>
        <p:spPr>
          <a:xfrm>
            <a:off x="3520440" y="2468880"/>
            <a:ext cx="2286000" cy="365760"/>
          </a:xfrm>
          <a:prstGeom prst="rect">
            <a:avLst/>
          </a:prstGeom>
          <a:noFill/>
          <a:ln/>
        </p:spPr>
        <p:txBody>
          <a:bodyPr wrap="square" rtlCol="0" anchor="ctr"/>
          <a:lstStyle/>
          <a:p>
            <a:pPr algn="ctr" indent="0" marL="0">
              <a:buNone/>
            </a:pPr>
            <a:r>
              <a:rPr lang="en-US" sz="1400" b="1" dirty="0">
                <a:solidFill>
                  <a:srgbClr val="0F172A"/>
                </a:solidFill>
                <a:latin typeface="Georgia" pitchFamily="34" charset="0"/>
                <a:ea typeface="Georgia" pitchFamily="34" charset="-122"/>
                <a:cs typeface="Georgia" pitchFamily="34" charset="-120"/>
              </a:rPr>
              <a:t>P21 Community Checks</a:t>
            </a:r>
            <a:endParaRPr lang="en-US" sz="1400" dirty="0"/>
          </a:p>
        </p:txBody>
      </p:sp>
      <p:sp>
        <p:nvSpPr>
          <p:cNvPr id="18" name="Text 16"/>
          <p:cNvSpPr/>
          <p:nvPr/>
        </p:nvSpPr>
        <p:spPr>
          <a:xfrm>
            <a:off x="3520440" y="2880360"/>
            <a:ext cx="2286000" cy="7315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Run automated validation rules against finalized SDTM datasets; flag any issues</a:t>
            </a:r>
            <a:endParaRPr lang="en-US" sz="1100" dirty="0"/>
          </a:p>
        </p:txBody>
      </p:sp>
      <p:sp>
        <p:nvSpPr>
          <p:cNvPr id="19" name="Shape 17"/>
          <p:cNvSpPr/>
          <p:nvPr/>
        </p:nvSpPr>
        <p:spPr>
          <a:xfrm>
            <a:off x="6217920" y="1463040"/>
            <a:ext cx="2651760" cy="2286000"/>
          </a:xfrm>
          <a:prstGeom prst="rectangle">
            <a:avLst/>
          </a:prstGeom>
          <a:solidFill>
            <a:srgbClr val="FFFFFF"/>
          </a:solidFill>
          <a:ln/>
          <a:effectLst>
            <a:outerShdw sx="100000" sy="100000" kx="0" ky="0" algn="bl" rotWithShape="0" blurRad="76200" dist="25400" dir="8100000">
              <a:srgbClr val="000000">
                <a:alpha val="12000"/>
              </a:srgbClr>
            </a:outerShdw>
          </a:effectLst>
        </p:spPr>
      </p:sp>
      <p:sp>
        <p:nvSpPr>
          <p:cNvPr id="20" name="Shape 18"/>
          <p:cNvSpPr/>
          <p:nvPr/>
        </p:nvSpPr>
        <p:spPr>
          <a:xfrm>
            <a:off x="6217920" y="1463040"/>
            <a:ext cx="2651760" cy="54864"/>
          </a:xfrm>
          <a:prstGeom prst="rectangle">
            <a:avLst/>
          </a:prstGeom>
          <a:solidFill>
            <a:srgbClr val="10B981"/>
          </a:solidFill>
          <a:ln/>
        </p:spPr>
      </p:sp>
      <p:sp>
        <p:nvSpPr>
          <p:cNvPr id="21" name="Shape 19"/>
          <p:cNvSpPr/>
          <p:nvPr/>
        </p:nvSpPr>
        <p:spPr>
          <a:xfrm>
            <a:off x="7223760" y="1691640"/>
            <a:ext cx="640080" cy="640080"/>
          </a:xfrm>
          <a:prstGeom prst="oval">
            <a:avLst/>
          </a:prstGeom>
          <a:solidFill>
            <a:srgbClr val="10B981">
              <a:alpha val="15000"/>
            </a:srgbClr>
          </a:solidFill>
          <a:ln/>
        </p:spPr>
      </p:sp>
      <p:sp>
        <p:nvSpPr>
          <p:cNvPr id="22" name="Text 20"/>
          <p:cNvSpPr/>
          <p:nvPr/>
        </p:nvSpPr>
        <p:spPr>
          <a:xfrm>
            <a:off x="7223760" y="1691640"/>
            <a:ext cx="640080" cy="640080"/>
          </a:xfrm>
          <a:prstGeom prst="rect">
            <a:avLst/>
          </a:prstGeom>
          <a:noFill/>
          <a:ln/>
        </p:spPr>
        <p:txBody>
          <a:bodyPr wrap="square" rtlCol="0" anchor="ctr"/>
          <a:lstStyle/>
          <a:p>
            <a:pPr algn="ctr" indent="0" marL="0">
              <a:buNone/>
            </a:pPr>
            <a:r>
              <a:rPr lang="en-US" sz="2400" b="1" dirty="0">
                <a:solidFill>
                  <a:srgbClr val="10B981"/>
                </a:solidFill>
                <a:latin typeface="Georgia" pitchFamily="34" charset="0"/>
                <a:ea typeface="Georgia" pitchFamily="34" charset="-122"/>
                <a:cs typeface="Georgia" pitchFamily="34" charset="-120"/>
              </a:rPr>
              <a:t>3</a:t>
            </a:r>
            <a:endParaRPr lang="en-US" sz="2400" dirty="0"/>
          </a:p>
        </p:txBody>
      </p:sp>
      <p:sp>
        <p:nvSpPr>
          <p:cNvPr id="23" name="Text 21"/>
          <p:cNvSpPr/>
          <p:nvPr/>
        </p:nvSpPr>
        <p:spPr>
          <a:xfrm>
            <a:off x="6400800" y="2468880"/>
            <a:ext cx="2286000" cy="365760"/>
          </a:xfrm>
          <a:prstGeom prst="rect">
            <a:avLst/>
          </a:prstGeom>
          <a:noFill/>
          <a:ln/>
        </p:spPr>
        <p:txBody>
          <a:bodyPr wrap="square" rtlCol="0" anchor="ctr"/>
          <a:lstStyle/>
          <a:p>
            <a:pPr algn="ctr" indent="0" marL="0">
              <a:buNone/>
            </a:pPr>
            <a:r>
              <a:rPr lang="en-US" sz="1400" b="1" dirty="0">
                <a:solidFill>
                  <a:srgbClr val="0F172A"/>
                </a:solidFill>
                <a:latin typeface="Georgia" pitchFamily="34" charset="0"/>
                <a:ea typeface="Georgia" pitchFamily="34" charset="-122"/>
                <a:cs typeface="Georgia" pitchFamily="34" charset="-120"/>
              </a:rPr>
              <a:t>Define.xml Generation</a:t>
            </a:r>
            <a:endParaRPr lang="en-US" sz="1400" dirty="0"/>
          </a:p>
        </p:txBody>
      </p:sp>
      <p:sp>
        <p:nvSpPr>
          <p:cNvPr id="24" name="Text 22"/>
          <p:cNvSpPr/>
          <p:nvPr/>
        </p:nvSpPr>
        <p:spPr>
          <a:xfrm>
            <a:off x="6400800" y="2880360"/>
            <a:ext cx="2286000" cy="7315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Generate the regulatory submission metadata document from validated specifications</a:t>
            </a:r>
            <a:endParaRPr lang="en-US" sz="1100" dirty="0"/>
          </a:p>
        </p:txBody>
      </p:sp>
      <p:sp>
        <p:nvSpPr>
          <p:cNvPr id="25" name="Shape 23"/>
          <p:cNvSpPr/>
          <p:nvPr/>
        </p:nvSpPr>
        <p:spPr>
          <a:xfrm>
            <a:off x="457200" y="4023360"/>
            <a:ext cx="8229600" cy="640080"/>
          </a:xfrm>
          <a:prstGeom prst="rectangle">
            <a:avLst/>
          </a:prstGeom>
          <a:solidFill>
            <a:srgbClr val="FEF3C7"/>
          </a:solidFill>
          <a:ln/>
        </p:spPr>
      </p:sp>
      <p:pic>
        <p:nvPicPr>
          <p:cNvPr id="26" name="Image 0" descr="preencoded.png"/>
          <p:cNvPicPr>
            <a:picLocks noChangeAspect="1"/>
          </p:cNvPicPr>
          <p:nvPr/>
        </p:nvPicPr>
        <p:blipFill>
          <a:blip r:embed="rId1"/>
          <a:stretch>
            <a:fillRect/>
          </a:stretch>
        </p:blipFill>
        <p:spPr>
          <a:xfrm>
            <a:off x="594360" y="4133088"/>
            <a:ext cx="320040" cy="320040"/>
          </a:xfrm>
          <a:prstGeom prst="rect">
            <a:avLst/>
          </a:prstGeom>
        </p:spPr>
      </p:pic>
      <p:sp>
        <p:nvSpPr>
          <p:cNvPr id="27" name="Text 24"/>
          <p:cNvSpPr/>
          <p:nvPr/>
        </p:nvSpPr>
        <p:spPr>
          <a:xfrm>
            <a:off x="1005840" y="4023360"/>
            <a:ext cx="7498080" cy="640080"/>
          </a:xfrm>
          <a:prstGeom prst="rect">
            <a:avLst/>
          </a:prstGeom>
          <a:noFill/>
          <a:ln/>
        </p:spPr>
        <p:txBody>
          <a:bodyPr wrap="square"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Any P21 issues are automatically routed back to the appropriate agent for resolution. The iteration loop continues until all checks pass — just like the manual QC process.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1828800" cy="320040"/>
          </a:xfrm>
          <a:prstGeom prst="rect">
            <a:avLst/>
          </a:prstGeom>
          <a:noFill/>
          <a:ln/>
        </p:spPr>
        <p:txBody>
          <a:bodyPr wrap="square" rtlCol="0" anchor="ctr"/>
          <a:lstStyle/>
          <a:p>
            <a:pPr indent="0" marL="0">
              <a:buNone/>
            </a:pPr>
            <a:r>
              <a:rPr lang="en-US" sz="1100" b="1" spc="300" kern="0" dirty="0">
                <a:solidFill>
                  <a:srgbClr val="06B6D4"/>
                </a:solidFill>
                <a:latin typeface="Calibri" pitchFamily="34" charset="0"/>
                <a:ea typeface="Calibri" pitchFamily="34" charset="-122"/>
                <a:cs typeface="Calibri" pitchFamily="34" charset="-120"/>
              </a:rPr>
              <a:t>Module 3.6</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Visual Orchestration Dashboard</a:t>
            </a:r>
            <a:endParaRPr lang="en-US" sz="2800" dirty="0"/>
          </a:p>
        </p:txBody>
      </p:sp>
      <p:sp>
        <p:nvSpPr>
          <p:cNvPr id="4" name="Shape 2"/>
          <p:cNvSpPr/>
          <p:nvPr/>
        </p:nvSpPr>
        <p:spPr>
          <a:xfrm>
            <a:off x="0" y="4892040"/>
            <a:ext cx="9144000" cy="251460"/>
          </a:xfrm>
          <a:prstGeom prst="rectangle">
            <a:avLst/>
          </a:prstGeom>
          <a:solidFill>
            <a:srgbClr val="0F172A"/>
          </a:solidFill>
          <a:ln/>
        </p:spPr>
      </p:sp>
      <p:sp>
        <p:nvSpPr>
          <p:cNvPr id="5" name="Text 3"/>
          <p:cNvSpPr/>
          <p:nvPr/>
        </p:nvSpPr>
        <p:spPr>
          <a:xfrm>
            <a:off x="457200" y="4892040"/>
            <a:ext cx="8229600" cy="25146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AI for Clinical SAS Programmers  |  Training Program 2026</a:t>
            </a:r>
            <a:endParaRPr lang="en-US" sz="800" dirty="0"/>
          </a:p>
        </p:txBody>
      </p:sp>
      <p:sp>
        <p:nvSpPr>
          <p:cNvPr id="6" name="Text 4"/>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21 / 22</a:t>
            </a:r>
            <a:endParaRPr lang="en-US" sz="900" dirty="0"/>
          </a:p>
        </p:txBody>
      </p:sp>
      <p:sp>
        <p:nvSpPr>
          <p:cNvPr id="7" name="Shape 5"/>
          <p:cNvSpPr/>
          <p:nvPr/>
        </p:nvSpPr>
        <p:spPr>
          <a:xfrm>
            <a:off x="457200" y="1280160"/>
            <a:ext cx="8229600" cy="457200"/>
          </a:xfrm>
          <a:prstGeom prst="rectangle">
            <a:avLst/>
          </a:prstGeom>
          <a:solidFill>
            <a:srgbClr val="111827"/>
          </a:solidFill>
          <a:ln/>
        </p:spPr>
      </p:sp>
      <p:sp>
        <p:nvSpPr>
          <p:cNvPr id="8" name="Text 6"/>
          <p:cNvSpPr/>
          <p:nvPr/>
        </p:nvSpPr>
        <p:spPr>
          <a:xfrm>
            <a:off x="640080" y="1280160"/>
            <a:ext cx="7863840" cy="457200"/>
          </a:xfrm>
          <a:prstGeom prst="rect">
            <a:avLst/>
          </a:prstGeom>
          <a:noFill/>
          <a:ln/>
        </p:spPr>
        <p:txBody>
          <a:bodyPr wrap="square" rtlCol="0" anchor="ctr"/>
          <a:lstStyle/>
          <a:p>
            <a:pPr indent="0" marL="0">
              <a:buNone/>
            </a:pPr>
            <a:r>
              <a:rPr lang="en-US" sz="1100" dirty="0">
                <a:solidFill>
                  <a:srgbClr val="06B6D4"/>
                </a:solidFill>
                <a:latin typeface="Consolas" pitchFamily="34" charset="0"/>
                <a:ea typeface="Consolas" pitchFamily="34" charset="-122"/>
                <a:cs typeface="Consolas" pitchFamily="34" charset="-120"/>
              </a:rPr>
              <a:t>SDTM Pipeline Monitor  —  Study XYZ-2026-001  —  DM Domain</a:t>
            </a:r>
            <a:endParaRPr lang="en-US" sz="1100" dirty="0"/>
          </a:p>
        </p:txBody>
      </p:sp>
      <p:sp>
        <p:nvSpPr>
          <p:cNvPr id="9" name="Shape 7"/>
          <p:cNvSpPr/>
          <p:nvPr/>
        </p:nvSpPr>
        <p:spPr>
          <a:xfrm>
            <a:off x="640080" y="2011680"/>
            <a:ext cx="1143000" cy="1097280"/>
          </a:xfrm>
          <a:prstGeom prst="rectangle">
            <a:avLst/>
          </a:prstGeom>
          <a:solidFill>
            <a:srgbClr val="1E293B"/>
          </a:solidFill>
          <a:ln/>
        </p:spPr>
      </p:sp>
      <p:sp>
        <p:nvSpPr>
          <p:cNvPr id="10" name="Text 8"/>
          <p:cNvSpPr/>
          <p:nvPr/>
        </p:nvSpPr>
        <p:spPr>
          <a:xfrm>
            <a:off x="640080" y="2057400"/>
            <a:ext cx="1143000" cy="54864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Spec</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Builder</a:t>
            </a:r>
            <a:endParaRPr lang="en-US" sz="1000" dirty="0"/>
          </a:p>
        </p:txBody>
      </p:sp>
      <p:sp>
        <p:nvSpPr>
          <p:cNvPr id="11" name="Shape 9"/>
          <p:cNvSpPr/>
          <p:nvPr/>
        </p:nvSpPr>
        <p:spPr>
          <a:xfrm>
            <a:off x="777240" y="2743200"/>
            <a:ext cx="868680" cy="228600"/>
          </a:xfrm>
          <a:prstGeom prst="rectangle">
            <a:avLst/>
          </a:prstGeom>
          <a:solidFill>
            <a:srgbClr val="10B981">
              <a:alpha val="30000"/>
            </a:srgbClr>
          </a:solidFill>
          <a:ln/>
        </p:spPr>
      </p:sp>
      <p:sp>
        <p:nvSpPr>
          <p:cNvPr id="12" name="Text 10"/>
          <p:cNvSpPr/>
          <p:nvPr/>
        </p:nvSpPr>
        <p:spPr>
          <a:xfrm>
            <a:off x="777240" y="2743200"/>
            <a:ext cx="868680" cy="228600"/>
          </a:xfrm>
          <a:prstGeom prst="rect">
            <a:avLst/>
          </a:prstGeom>
          <a:noFill/>
          <a:ln/>
        </p:spPr>
        <p:txBody>
          <a:bodyPr wrap="square" rtlCol="0" anchor="ctr"/>
          <a:lstStyle/>
          <a:p>
            <a:pPr algn="ctr" indent="0" marL="0">
              <a:buNone/>
            </a:pPr>
            <a:r>
              <a:rPr lang="en-US" sz="800" b="1" dirty="0">
                <a:solidFill>
                  <a:srgbClr val="10B981"/>
                </a:solidFill>
                <a:latin typeface="Calibri" pitchFamily="34" charset="0"/>
                <a:ea typeface="Calibri" pitchFamily="34" charset="-122"/>
                <a:cs typeface="Calibri" pitchFamily="34" charset="-120"/>
              </a:rPr>
              <a:t>Complete</a:t>
            </a:r>
            <a:endParaRPr lang="en-US" sz="800" dirty="0"/>
          </a:p>
        </p:txBody>
      </p:sp>
      <p:sp>
        <p:nvSpPr>
          <p:cNvPr id="13" name="Text 11"/>
          <p:cNvSpPr/>
          <p:nvPr/>
        </p:nvSpPr>
        <p:spPr>
          <a:xfrm>
            <a:off x="1783080" y="2240280"/>
            <a:ext cx="274320" cy="365760"/>
          </a:xfrm>
          <a:prstGeom prst="rect">
            <a:avLst/>
          </a:prstGeom>
          <a:noFill/>
          <a:ln/>
        </p:spPr>
        <p:txBody>
          <a:bodyPr wrap="square" rtlCol="0" anchor="ctr"/>
          <a:lstStyle/>
          <a:p>
            <a:pPr algn="ctr" indent="0" marL="0">
              <a:buNone/>
            </a:pPr>
            <a:r>
              <a:rPr lang="en-US" sz="1600" dirty="0">
                <a:solidFill>
                  <a:srgbClr val="0891B2"/>
                </a:solidFill>
              </a:rPr>
              <a:t>→</a:t>
            </a:r>
            <a:endParaRPr lang="en-US" sz="1600" dirty="0"/>
          </a:p>
        </p:txBody>
      </p:sp>
      <p:sp>
        <p:nvSpPr>
          <p:cNvPr id="14" name="Shape 12"/>
          <p:cNvSpPr/>
          <p:nvPr/>
        </p:nvSpPr>
        <p:spPr>
          <a:xfrm>
            <a:off x="2011680" y="2011680"/>
            <a:ext cx="1143000" cy="1097280"/>
          </a:xfrm>
          <a:prstGeom prst="rectangle">
            <a:avLst/>
          </a:prstGeom>
          <a:solidFill>
            <a:srgbClr val="1E293B"/>
          </a:solidFill>
          <a:ln/>
        </p:spPr>
      </p:sp>
      <p:sp>
        <p:nvSpPr>
          <p:cNvPr id="15" name="Text 13"/>
          <p:cNvSpPr/>
          <p:nvPr/>
        </p:nvSpPr>
        <p:spPr>
          <a:xfrm>
            <a:off x="2011680" y="2057400"/>
            <a:ext cx="1143000" cy="54864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Spec</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Reviewer</a:t>
            </a:r>
            <a:endParaRPr lang="en-US" sz="1000" dirty="0"/>
          </a:p>
        </p:txBody>
      </p:sp>
      <p:sp>
        <p:nvSpPr>
          <p:cNvPr id="16" name="Shape 14"/>
          <p:cNvSpPr/>
          <p:nvPr/>
        </p:nvSpPr>
        <p:spPr>
          <a:xfrm>
            <a:off x="2148840" y="2743200"/>
            <a:ext cx="868680" cy="228600"/>
          </a:xfrm>
          <a:prstGeom prst="rectangle">
            <a:avLst/>
          </a:prstGeom>
          <a:solidFill>
            <a:srgbClr val="10B981">
              <a:alpha val="30000"/>
            </a:srgbClr>
          </a:solidFill>
          <a:ln/>
        </p:spPr>
      </p:sp>
      <p:sp>
        <p:nvSpPr>
          <p:cNvPr id="17" name="Text 15"/>
          <p:cNvSpPr/>
          <p:nvPr/>
        </p:nvSpPr>
        <p:spPr>
          <a:xfrm>
            <a:off x="2148840" y="2743200"/>
            <a:ext cx="868680" cy="228600"/>
          </a:xfrm>
          <a:prstGeom prst="rect">
            <a:avLst/>
          </a:prstGeom>
          <a:noFill/>
          <a:ln/>
        </p:spPr>
        <p:txBody>
          <a:bodyPr wrap="square" rtlCol="0" anchor="ctr"/>
          <a:lstStyle/>
          <a:p>
            <a:pPr algn="ctr" indent="0" marL="0">
              <a:buNone/>
            </a:pPr>
            <a:r>
              <a:rPr lang="en-US" sz="800" b="1" dirty="0">
                <a:solidFill>
                  <a:srgbClr val="10B981"/>
                </a:solidFill>
                <a:latin typeface="Calibri" pitchFamily="34" charset="0"/>
                <a:ea typeface="Calibri" pitchFamily="34" charset="-122"/>
                <a:cs typeface="Calibri" pitchFamily="34" charset="-120"/>
              </a:rPr>
              <a:t>Complete</a:t>
            </a:r>
            <a:endParaRPr lang="en-US" sz="800" dirty="0"/>
          </a:p>
        </p:txBody>
      </p:sp>
      <p:sp>
        <p:nvSpPr>
          <p:cNvPr id="18" name="Text 16"/>
          <p:cNvSpPr/>
          <p:nvPr/>
        </p:nvSpPr>
        <p:spPr>
          <a:xfrm>
            <a:off x="3154680" y="2240280"/>
            <a:ext cx="274320" cy="365760"/>
          </a:xfrm>
          <a:prstGeom prst="rect">
            <a:avLst/>
          </a:prstGeom>
          <a:noFill/>
          <a:ln/>
        </p:spPr>
        <p:txBody>
          <a:bodyPr wrap="square" rtlCol="0" anchor="ctr"/>
          <a:lstStyle/>
          <a:p>
            <a:pPr algn="ctr" indent="0" marL="0">
              <a:buNone/>
            </a:pPr>
            <a:r>
              <a:rPr lang="en-US" sz="1600" dirty="0">
                <a:solidFill>
                  <a:srgbClr val="0891B2"/>
                </a:solidFill>
              </a:rPr>
              <a:t>→</a:t>
            </a:r>
            <a:endParaRPr lang="en-US" sz="1600" dirty="0"/>
          </a:p>
        </p:txBody>
      </p:sp>
      <p:sp>
        <p:nvSpPr>
          <p:cNvPr id="19" name="Shape 17"/>
          <p:cNvSpPr/>
          <p:nvPr/>
        </p:nvSpPr>
        <p:spPr>
          <a:xfrm>
            <a:off x="3383280" y="2011680"/>
            <a:ext cx="1143000" cy="1097280"/>
          </a:xfrm>
          <a:prstGeom prst="rectangle">
            <a:avLst/>
          </a:prstGeom>
          <a:solidFill>
            <a:srgbClr val="1E293B"/>
          </a:solidFill>
          <a:ln/>
        </p:spPr>
      </p:sp>
      <p:sp>
        <p:nvSpPr>
          <p:cNvPr id="20" name="Text 18"/>
          <p:cNvSpPr/>
          <p:nvPr/>
        </p:nvSpPr>
        <p:spPr>
          <a:xfrm>
            <a:off x="3383280" y="2057400"/>
            <a:ext cx="1143000" cy="54864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Human</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Review</a:t>
            </a:r>
            <a:endParaRPr lang="en-US" sz="1000" dirty="0"/>
          </a:p>
        </p:txBody>
      </p:sp>
      <p:sp>
        <p:nvSpPr>
          <p:cNvPr id="21" name="Shape 19"/>
          <p:cNvSpPr/>
          <p:nvPr/>
        </p:nvSpPr>
        <p:spPr>
          <a:xfrm>
            <a:off x="3520440" y="2743200"/>
            <a:ext cx="868680" cy="228600"/>
          </a:xfrm>
          <a:prstGeom prst="rectangle">
            <a:avLst/>
          </a:prstGeom>
          <a:solidFill>
            <a:srgbClr val="10B981">
              <a:alpha val="30000"/>
            </a:srgbClr>
          </a:solidFill>
          <a:ln/>
        </p:spPr>
      </p:sp>
      <p:sp>
        <p:nvSpPr>
          <p:cNvPr id="22" name="Text 20"/>
          <p:cNvSpPr/>
          <p:nvPr/>
        </p:nvSpPr>
        <p:spPr>
          <a:xfrm>
            <a:off x="3520440" y="2743200"/>
            <a:ext cx="868680" cy="228600"/>
          </a:xfrm>
          <a:prstGeom prst="rect">
            <a:avLst/>
          </a:prstGeom>
          <a:noFill/>
          <a:ln/>
        </p:spPr>
        <p:txBody>
          <a:bodyPr wrap="square" rtlCol="0" anchor="ctr"/>
          <a:lstStyle/>
          <a:p>
            <a:pPr algn="ctr" indent="0" marL="0">
              <a:buNone/>
            </a:pPr>
            <a:r>
              <a:rPr lang="en-US" sz="800" b="1" dirty="0">
                <a:solidFill>
                  <a:srgbClr val="10B981"/>
                </a:solidFill>
                <a:latin typeface="Calibri" pitchFamily="34" charset="0"/>
                <a:ea typeface="Calibri" pitchFamily="34" charset="-122"/>
                <a:cs typeface="Calibri" pitchFamily="34" charset="-120"/>
              </a:rPr>
              <a:t>Approved</a:t>
            </a:r>
            <a:endParaRPr lang="en-US" sz="800" dirty="0"/>
          </a:p>
        </p:txBody>
      </p:sp>
      <p:sp>
        <p:nvSpPr>
          <p:cNvPr id="23" name="Text 21"/>
          <p:cNvSpPr/>
          <p:nvPr/>
        </p:nvSpPr>
        <p:spPr>
          <a:xfrm>
            <a:off x="4526280" y="2240280"/>
            <a:ext cx="274320" cy="365760"/>
          </a:xfrm>
          <a:prstGeom prst="rect">
            <a:avLst/>
          </a:prstGeom>
          <a:noFill/>
          <a:ln/>
        </p:spPr>
        <p:txBody>
          <a:bodyPr wrap="square" rtlCol="0" anchor="ctr"/>
          <a:lstStyle/>
          <a:p>
            <a:pPr algn="ctr" indent="0" marL="0">
              <a:buNone/>
            </a:pPr>
            <a:r>
              <a:rPr lang="en-US" sz="1600" dirty="0">
                <a:solidFill>
                  <a:srgbClr val="0891B2"/>
                </a:solidFill>
              </a:rPr>
              <a:t>→</a:t>
            </a:r>
            <a:endParaRPr lang="en-US" sz="1600" dirty="0"/>
          </a:p>
        </p:txBody>
      </p:sp>
      <p:sp>
        <p:nvSpPr>
          <p:cNvPr id="24" name="Shape 22"/>
          <p:cNvSpPr/>
          <p:nvPr/>
        </p:nvSpPr>
        <p:spPr>
          <a:xfrm>
            <a:off x="4754880" y="2011680"/>
            <a:ext cx="1143000" cy="1097280"/>
          </a:xfrm>
          <a:prstGeom prst="rectangle">
            <a:avLst/>
          </a:prstGeom>
          <a:solidFill>
            <a:srgbClr val="1E293B"/>
          </a:solidFill>
          <a:ln/>
        </p:spPr>
      </p:sp>
      <p:sp>
        <p:nvSpPr>
          <p:cNvPr id="25" name="Text 23"/>
          <p:cNvSpPr/>
          <p:nvPr/>
        </p:nvSpPr>
        <p:spPr>
          <a:xfrm>
            <a:off x="4754880" y="2057400"/>
            <a:ext cx="1143000" cy="54864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Production</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Prog</a:t>
            </a:r>
            <a:endParaRPr lang="en-US" sz="1000" dirty="0"/>
          </a:p>
        </p:txBody>
      </p:sp>
      <p:sp>
        <p:nvSpPr>
          <p:cNvPr id="26" name="Shape 24"/>
          <p:cNvSpPr/>
          <p:nvPr/>
        </p:nvSpPr>
        <p:spPr>
          <a:xfrm>
            <a:off x="4892040" y="2743200"/>
            <a:ext cx="868680" cy="228600"/>
          </a:xfrm>
          <a:prstGeom prst="rectangle">
            <a:avLst/>
          </a:prstGeom>
          <a:solidFill>
            <a:srgbClr val="F59E0B">
              <a:alpha val="30000"/>
            </a:srgbClr>
          </a:solidFill>
          <a:ln/>
        </p:spPr>
      </p:sp>
      <p:sp>
        <p:nvSpPr>
          <p:cNvPr id="27" name="Text 25"/>
          <p:cNvSpPr/>
          <p:nvPr/>
        </p:nvSpPr>
        <p:spPr>
          <a:xfrm>
            <a:off x="4892040" y="2743200"/>
            <a:ext cx="868680" cy="228600"/>
          </a:xfrm>
          <a:prstGeom prst="rect">
            <a:avLst/>
          </a:prstGeom>
          <a:noFill/>
          <a:ln/>
        </p:spPr>
        <p:txBody>
          <a:bodyPr wrap="square" rtlCol="0" anchor="ctr"/>
          <a:lstStyle/>
          <a:p>
            <a:pPr algn="ctr" indent="0" marL="0">
              <a:buNone/>
            </a:pPr>
            <a:r>
              <a:rPr lang="en-US" sz="800" b="1" dirty="0">
                <a:solidFill>
                  <a:srgbClr val="F59E0B"/>
                </a:solidFill>
                <a:latin typeface="Calibri" pitchFamily="34" charset="0"/>
                <a:ea typeface="Calibri" pitchFamily="34" charset="-122"/>
                <a:cs typeface="Calibri" pitchFamily="34" charset="-120"/>
              </a:rPr>
              <a:t>Running</a:t>
            </a:r>
            <a:endParaRPr lang="en-US" sz="800" dirty="0"/>
          </a:p>
        </p:txBody>
      </p:sp>
      <p:sp>
        <p:nvSpPr>
          <p:cNvPr id="28" name="Text 26"/>
          <p:cNvSpPr/>
          <p:nvPr/>
        </p:nvSpPr>
        <p:spPr>
          <a:xfrm>
            <a:off x="5897880" y="2240280"/>
            <a:ext cx="274320" cy="365760"/>
          </a:xfrm>
          <a:prstGeom prst="rect">
            <a:avLst/>
          </a:prstGeom>
          <a:noFill/>
          <a:ln/>
        </p:spPr>
        <p:txBody>
          <a:bodyPr wrap="square" rtlCol="0" anchor="ctr"/>
          <a:lstStyle/>
          <a:p>
            <a:pPr algn="ctr" indent="0" marL="0">
              <a:buNone/>
            </a:pPr>
            <a:r>
              <a:rPr lang="en-US" sz="1600" dirty="0">
                <a:solidFill>
                  <a:srgbClr val="0891B2"/>
                </a:solidFill>
              </a:rPr>
              <a:t>→</a:t>
            </a:r>
            <a:endParaRPr lang="en-US" sz="1600" dirty="0"/>
          </a:p>
        </p:txBody>
      </p:sp>
      <p:sp>
        <p:nvSpPr>
          <p:cNvPr id="29" name="Shape 27"/>
          <p:cNvSpPr/>
          <p:nvPr/>
        </p:nvSpPr>
        <p:spPr>
          <a:xfrm>
            <a:off x="6126480" y="2011680"/>
            <a:ext cx="1143000" cy="1097280"/>
          </a:xfrm>
          <a:prstGeom prst="rectangle">
            <a:avLst/>
          </a:prstGeom>
          <a:solidFill>
            <a:srgbClr val="1E293B"/>
          </a:solidFill>
          <a:ln/>
        </p:spPr>
      </p:sp>
      <p:sp>
        <p:nvSpPr>
          <p:cNvPr id="30" name="Text 28"/>
          <p:cNvSpPr/>
          <p:nvPr/>
        </p:nvSpPr>
        <p:spPr>
          <a:xfrm>
            <a:off x="6126480" y="2057400"/>
            <a:ext cx="1143000" cy="54864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QC</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Prog</a:t>
            </a:r>
            <a:endParaRPr lang="en-US" sz="1000" dirty="0"/>
          </a:p>
        </p:txBody>
      </p:sp>
      <p:sp>
        <p:nvSpPr>
          <p:cNvPr id="31" name="Shape 29"/>
          <p:cNvSpPr/>
          <p:nvPr/>
        </p:nvSpPr>
        <p:spPr>
          <a:xfrm>
            <a:off x="6263640" y="2743200"/>
            <a:ext cx="868680" cy="228600"/>
          </a:xfrm>
          <a:prstGeom prst="rectangle">
            <a:avLst/>
          </a:prstGeom>
          <a:solidFill>
            <a:srgbClr val="94A3B8">
              <a:alpha val="30000"/>
            </a:srgbClr>
          </a:solidFill>
          <a:ln/>
        </p:spPr>
      </p:sp>
      <p:sp>
        <p:nvSpPr>
          <p:cNvPr id="32" name="Text 30"/>
          <p:cNvSpPr/>
          <p:nvPr/>
        </p:nvSpPr>
        <p:spPr>
          <a:xfrm>
            <a:off x="6263640" y="2743200"/>
            <a:ext cx="868680" cy="228600"/>
          </a:xfrm>
          <a:prstGeom prst="rect">
            <a:avLst/>
          </a:prstGeom>
          <a:noFill/>
          <a:ln/>
        </p:spPr>
        <p:txBody>
          <a:bodyPr wrap="square" rtlCol="0" anchor="ctr"/>
          <a:lstStyle/>
          <a:p>
            <a:pPr algn="ctr" indent="0" marL="0">
              <a:buNone/>
            </a:pPr>
            <a:r>
              <a:rPr lang="en-US" sz="800" b="1" dirty="0">
                <a:solidFill>
                  <a:srgbClr val="94A3B8"/>
                </a:solidFill>
                <a:latin typeface="Calibri" pitchFamily="34" charset="0"/>
                <a:ea typeface="Calibri" pitchFamily="34" charset="-122"/>
                <a:cs typeface="Calibri" pitchFamily="34" charset="-120"/>
              </a:rPr>
              <a:t>Waiting</a:t>
            </a:r>
            <a:endParaRPr lang="en-US" sz="800" dirty="0"/>
          </a:p>
        </p:txBody>
      </p:sp>
      <p:sp>
        <p:nvSpPr>
          <p:cNvPr id="33" name="Text 31"/>
          <p:cNvSpPr/>
          <p:nvPr/>
        </p:nvSpPr>
        <p:spPr>
          <a:xfrm>
            <a:off x="7269480" y="2240280"/>
            <a:ext cx="274320" cy="365760"/>
          </a:xfrm>
          <a:prstGeom prst="rect">
            <a:avLst/>
          </a:prstGeom>
          <a:noFill/>
          <a:ln/>
        </p:spPr>
        <p:txBody>
          <a:bodyPr wrap="square" rtlCol="0" anchor="ctr"/>
          <a:lstStyle/>
          <a:p>
            <a:pPr algn="ctr" indent="0" marL="0">
              <a:buNone/>
            </a:pPr>
            <a:r>
              <a:rPr lang="en-US" sz="1600" dirty="0">
                <a:solidFill>
                  <a:srgbClr val="0891B2"/>
                </a:solidFill>
              </a:rPr>
              <a:t>→</a:t>
            </a:r>
            <a:endParaRPr lang="en-US" sz="1600" dirty="0"/>
          </a:p>
        </p:txBody>
      </p:sp>
      <p:sp>
        <p:nvSpPr>
          <p:cNvPr id="34" name="Shape 32"/>
          <p:cNvSpPr/>
          <p:nvPr/>
        </p:nvSpPr>
        <p:spPr>
          <a:xfrm>
            <a:off x="7498080" y="2011680"/>
            <a:ext cx="1143000" cy="1097280"/>
          </a:xfrm>
          <a:prstGeom prst="rectangle">
            <a:avLst/>
          </a:prstGeom>
          <a:solidFill>
            <a:srgbClr val="1E293B"/>
          </a:solidFill>
          <a:ln/>
        </p:spPr>
      </p:sp>
      <p:sp>
        <p:nvSpPr>
          <p:cNvPr id="35" name="Text 33"/>
          <p:cNvSpPr/>
          <p:nvPr/>
        </p:nvSpPr>
        <p:spPr>
          <a:xfrm>
            <a:off x="7498080" y="2057400"/>
            <a:ext cx="1143000" cy="54864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Validation</a:t>
            </a:r>
            <a:endParaRPr lang="en-US" sz="1000" dirty="0"/>
          </a:p>
        </p:txBody>
      </p:sp>
      <p:sp>
        <p:nvSpPr>
          <p:cNvPr id="36" name="Shape 34"/>
          <p:cNvSpPr/>
          <p:nvPr/>
        </p:nvSpPr>
        <p:spPr>
          <a:xfrm>
            <a:off x="7635240" y="2743200"/>
            <a:ext cx="868680" cy="228600"/>
          </a:xfrm>
          <a:prstGeom prst="rectangle">
            <a:avLst/>
          </a:prstGeom>
          <a:solidFill>
            <a:srgbClr val="94A3B8">
              <a:alpha val="30000"/>
            </a:srgbClr>
          </a:solidFill>
          <a:ln/>
        </p:spPr>
      </p:sp>
      <p:sp>
        <p:nvSpPr>
          <p:cNvPr id="37" name="Text 35"/>
          <p:cNvSpPr/>
          <p:nvPr/>
        </p:nvSpPr>
        <p:spPr>
          <a:xfrm>
            <a:off x="7635240" y="2743200"/>
            <a:ext cx="868680" cy="228600"/>
          </a:xfrm>
          <a:prstGeom prst="rect">
            <a:avLst/>
          </a:prstGeom>
          <a:noFill/>
          <a:ln/>
        </p:spPr>
        <p:txBody>
          <a:bodyPr wrap="square" rtlCol="0" anchor="ctr"/>
          <a:lstStyle/>
          <a:p>
            <a:pPr algn="ctr" indent="0" marL="0">
              <a:buNone/>
            </a:pPr>
            <a:r>
              <a:rPr lang="en-US" sz="800" b="1" dirty="0">
                <a:solidFill>
                  <a:srgbClr val="94A3B8"/>
                </a:solidFill>
                <a:latin typeface="Calibri" pitchFamily="34" charset="0"/>
                <a:ea typeface="Calibri" pitchFamily="34" charset="-122"/>
                <a:cs typeface="Calibri" pitchFamily="34" charset="-120"/>
              </a:rPr>
              <a:t>Pending</a:t>
            </a:r>
            <a:endParaRPr lang="en-US" sz="800" dirty="0"/>
          </a:p>
        </p:txBody>
      </p:sp>
      <p:pic>
        <p:nvPicPr>
          <p:cNvPr id="38" name="Image 0" descr="preencoded.png"/>
          <p:cNvPicPr>
            <a:picLocks noChangeAspect="1"/>
          </p:cNvPicPr>
          <p:nvPr/>
        </p:nvPicPr>
        <p:blipFill>
          <a:blip r:embed="rId1"/>
          <a:stretch>
            <a:fillRect/>
          </a:stretch>
        </p:blipFill>
        <p:spPr>
          <a:xfrm>
            <a:off x="640080" y="3447288"/>
            <a:ext cx="228600" cy="228600"/>
          </a:xfrm>
          <a:prstGeom prst="rect">
            <a:avLst/>
          </a:prstGeom>
        </p:spPr>
      </p:pic>
      <p:sp>
        <p:nvSpPr>
          <p:cNvPr id="39" name="Text 36"/>
          <p:cNvSpPr/>
          <p:nvPr/>
        </p:nvSpPr>
        <p:spPr>
          <a:xfrm>
            <a:off x="960120" y="3383280"/>
            <a:ext cx="3566160" cy="36576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Real-time pipeline visualization</a:t>
            </a:r>
            <a:endParaRPr lang="en-US" sz="1100" dirty="0"/>
          </a:p>
        </p:txBody>
      </p:sp>
      <p:pic>
        <p:nvPicPr>
          <p:cNvPr id="40" name="Image 1" descr="preencoded.png"/>
          <p:cNvPicPr>
            <a:picLocks noChangeAspect="1"/>
          </p:cNvPicPr>
          <p:nvPr/>
        </p:nvPicPr>
        <p:blipFill>
          <a:blip r:embed="rId2"/>
          <a:stretch>
            <a:fillRect/>
          </a:stretch>
        </p:blipFill>
        <p:spPr>
          <a:xfrm>
            <a:off x="640080" y="3950208"/>
            <a:ext cx="228600" cy="228600"/>
          </a:xfrm>
          <a:prstGeom prst="rect">
            <a:avLst/>
          </a:prstGeom>
        </p:spPr>
      </p:pic>
      <p:sp>
        <p:nvSpPr>
          <p:cNvPr id="41" name="Text 37"/>
          <p:cNvSpPr/>
          <p:nvPr/>
        </p:nvSpPr>
        <p:spPr>
          <a:xfrm>
            <a:off x="960120" y="3886200"/>
            <a:ext cx="3566160" cy="36576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Agent reasoning log viewer</a:t>
            </a:r>
            <a:endParaRPr lang="en-US" sz="1100" dirty="0"/>
          </a:p>
        </p:txBody>
      </p:sp>
      <p:pic>
        <p:nvPicPr>
          <p:cNvPr id="42" name="Image 2" descr="preencoded.png"/>
          <p:cNvPicPr>
            <a:picLocks noChangeAspect="1"/>
          </p:cNvPicPr>
          <p:nvPr/>
        </p:nvPicPr>
        <p:blipFill>
          <a:blip r:embed="rId3"/>
          <a:stretch>
            <a:fillRect/>
          </a:stretch>
        </p:blipFill>
        <p:spPr>
          <a:xfrm>
            <a:off x="4572000" y="3447288"/>
            <a:ext cx="228600" cy="228600"/>
          </a:xfrm>
          <a:prstGeom prst="rect">
            <a:avLst/>
          </a:prstGeom>
        </p:spPr>
      </p:pic>
      <p:sp>
        <p:nvSpPr>
          <p:cNvPr id="43" name="Text 38"/>
          <p:cNvSpPr/>
          <p:nvPr/>
        </p:nvSpPr>
        <p:spPr>
          <a:xfrm>
            <a:off x="4892040" y="3383280"/>
            <a:ext cx="3566160" cy="36576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Artifact inspector (spec, code, results)</a:t>
            </a:r>
            <a:endParaRPr lang="en-US" sz="1100" dirty="0"/>
          </a:p>
        </p:txBody>
      </p:sp>
      <p:pic>
        <p:nvPicPr>
          <p:cNvPr id="44" name="Image 3" descr="preencoded.png"/>
          <p:cNvPicPr>
            <a:picLocks noChangeAspect="1"/>
          </p:cNvPicPr>
          <p:nvPr/>
        </p:nvPicPr>
        <p:blipFill>
          <a:blip r:embed="rId4"/>
          <a:stretch>
            <a:fillRect/>
          </a:stretch>
        </p:blipFill>
        <p:spPr>
          <a:xfrm>
            <a:off x="4572000" y="3950208"/>
            <a:ext cx="228600" cy="228600"/>
          </a:xfrm>
          <a:prstGeom prst="rect">
            <a:avLst/>
          </a:prstGeom>
        </p:spPr>
      </p:pic>
      <p:sp>
        <p:nvSpPr>
          <p:cNvPr id="45" name="Text 39"/>
          <p:cNvSpPr/>
          <p:nvPr/>
        </p:nvSpPr>
        <p:spPr>
          <a:xfrm>
            <a:off x="4892040" y="3886200"/>
            <a:ext cx="3566160" cy="36576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Human review gate with inline comments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angle">
            <a:avLst/>
          </a:prstGeom>
          <a:solidFill>
            <a:srgbClr val="0891B2"/>
          </a:solidFill>
          <a:ln/>
        </p:spPr>
      </p:sp>
      <p:sp>
        <p:nvSpPr>
          <p:cNvPr id="3" name="Text 1"/>
          <p:cNvSpPr/>
          <p:nvPr/>
        </p:nvSpPr>
        <p:spPr>
          <a:xfrm>
            <a:off x="640080" y="274320"/>
            <a:ext cx="8229600" cy="64008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Next Steps</a:t>
            </a:r>
            <a:endParaRPr lang="en-US" sz="3400" dirty="0"/>
          </a:p>
        </p:txBody>
      </p:sp>
      <p:sp>
        <p:nvSpPr>
          <p:cNvPr id="4" name="Shape 2"/>
          <p:cNvSpPr/>
          <p:nvPr/>
        </p:nvSpPr>
        <p:spPr>
          <a:xfrm>
            <a:off x="640080" y="1143000"/>
            <a:ext cx="365760" cy="365760"/>
          </a:xfrm>
          <a:prstGeom prst="oval">
            <a:avLst/>
          </a:prstGeom>
          <a:solidFill>
            <a:srgbClr val="0891B2"/>
          </a:solidFill>
          <a:ln/>
        </p:spPr>
      </p:sp>
      <p:sp>
        <p:nvSpPr>
          <p:cNvPr id="5" name="Text 3"/>
          <p:cNvSpPr/>
          <p:nvPr/>
        </p:nvSpPr>
        <p:spPr>
          <a:xfrm>
            <a:off x="640080" y="114300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188720" y="1097280"/>
            <a:ext cx="7315200" cy="4572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Finalize the DM domain dataset and study materials for hands-on exercises</a:t>
            </a:r>
            <a:endParaRPr lang="en-US" sz="1400" dirty="0"/>
          </a:p>
        </p:txBody>
      </p:sp>
      <p:sp>
        <p:nvSpPr>
          <p:cNvPr id="7" name="Shape 5"/>
          <p:cNvSpPr/>
          <p:nvPr/>
        </p:nvSpPr>
        <p:spPr>
          <a:xfrm>
            <a:off x="640080" y="1783080"/>
            <a:ext cx="365760" cy="365760"/>
          </a:xfrm>
          <a:prstGeom prst="oval">
            <a:avLst/>
          </a:prstGeom>
          <a:solidFill>
            <a:srgbClr val="0891B2"/>
          </a:solidFill>
          <a:ln/>
        </p:spPr>
      </p:sp>
      <p:sp>
        <p:nvSpPr>
          <p:cNvPr id="8" name="Text 6"/>
          <p:cNvSpPr/>
          <p:nvPr/>
        </p:nvSpPr>
        <p:spPr>
          <a:xfrm>
            <a:off x="640080" y="178308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188720" y="1737360"/>
            <a:ext cx="7315200" cy="4572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Build Module 1.1 as the pilot; iterate on format before expanding</a:t>
            </a:r>
            <a:endParaRPr lang="en-US" sz="1400" dirty="0"/>
          </a:p>
        </p:txBody>
      </p:sp>
      <p:sp>
        <p:nvSpPr>
          <p:cNvPr id="10" name="Shape 8"/>
          <p:cNvSpPr/>
          <p:nvPr/>
        </p:nvSpPr>
        <p:spPr>
          <a:xfrm>
            <a:off x="640080" y="2423160"/>
            <a:ext cx="365760" cy="365760"/>
          </a:xfrm>
          <a:prstGeom prst="oval">
            <a:avLst/>
          </a:prstGeom>
          <a:solidFill>
            <a:srgbClr val="0891B2"/>
          </a:solidFill>
          <a:ln/>
        </p:spPr>
      </p:sp>
      <p:sp>
        <p:nvSpPr>
          <p:cNvPr id="11" name="Text 9"/>
          <p:cNvSpPr/>
          <p:nvPr/>
        </p:nvSpPr>
        <p:spPr>
          <a:xfrm>
            <a:off x="640080" y="242316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188720" y="2377440"/>
            <a:ext cx="7315200" cy="4572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Decide orchestration framework: Claude Code + hooks vs. LangGraph vs. hybrid</a:t>
            </a:r>
            <a:endParaRPr lang="en-US" sz="1400" dirty="0"/>
          </a:p>
        </p:txBody>
      </p:sp>
      <p:sp>
        <p:nvSpPr>
          <p:cNvPr id="13" name="Shape 11"/>
          <p:cNvSpPr/>
          <p:nvPr/>
        </p:nvSpPr>
        <p:spPr>
          <a:xfrm>
            <a:off x="640080" y="3063240"/>
            <a:ext cx="365760" cy="365760"/>
          </a:xfrm>
          <a:prstGeom prst="oval">
            <a:avLst/>
          </a:prstGeom>
          <a:solidFill>
            <a:srgbClr val="0891B2"/>
          </a:solidFill>
          <a:ln/>
        </p:spPr>
      </p:sp>
      <p:sp>
        <p:nvSpPr>
          <p:cNvPr id="14" name="Text 12"/>
          <p:cNvSpPr/>
          <p:nvPr/>
        </p:nvSpPr>
        <p:spPr>
          <a:xfrm>
            <a:off x="640080" y="306324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188720" y="3017520"/>
            <a:ext cx="7315200" cy="4572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Determine SAS Viya availability; prepare Python fallback if needed</a:t>
            </a:r>
            <a:endParaRPr lang="en-US" sz="1400" dirty="0"/>
          </a:p>
        </p:txBody>
      </p:sp>
      <p:sp>
        <p:nvSpPr>
          <p:cNvPr id="16" name="Shape 14"/>
          <p:cNvSpPr/>
          <p:nvPr/>
        </p:nvSpPr>
        <p:spPr>
          <a:xfrm>
            <a:off x="640080" y="3703320"/>
            <a:ext cx="365760" cy="365760"/>
          </a:xfrm>
          <a:prstGeom prst="oval">
            <a:avLst/>
          </a:prstGeom>
          <a:solidFill>
            <a:srgbClr val="0891B2"/>
          </a:solidFill>
          <a:ln/>
        </p:spPr>
      </p:sp>
      <p:sp>
        <p:nvSpPr>
          <p:cNvPr id="17" name="Text 15"/>
          <p:cNvSpPr/>
          <p:nvPr/>
        </p:nvSpPr>
        <p:spPr>
          <a:xfrm>
            <a:off x="640080" y="370332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188720" y="3657600"/>
            <a:ext cx="7315200" cy="4572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Expand to additional SDTM domains (AE, VS, LB) once DM is validated</a:t>
            </a:r>
            <a:endParaRPr lang="en-US" sz="1400" dirty="0"/>
          </a:p>
        </p:txBody>
      </p:sp>
      <p:sp>
        <p:nvSpPr>
          <p:cNvPr id="19" name="Shape 17"/>
          <p:cNvSpPr/>
          <p:nvPr/>
        </p:nvSpPr>
        <p:spPr>
          <a:xfrm>
            <a:off x="457200" y="4251960"/>
            <a:ext cx="8229600" cy="548640"/>
          </a:xfrm>
          <a:prstGeom prst="rectangle">
            <a:avLst/>
          </a:prstGeom>
          <a:solidFill>
            <a:srgbClr val="0891B2">
              <a:alpha val="15000"/>
            </a:srgbClr>
          </a:solidFill>
          <a:ln/>
        </p:spPr>
      </p:sp>
      <p:sp>
        <p:nvSpPr>
          <p:cNvPr id="20" name="Text 18"/>
          <p:cNvSpPr/>
          <p:nvPr/>
        </p:nvSpPr>
        <p:spPr>
          <a:xfrm>
            <a:off x="640080" y="4251960"/>
            <a:ext cx="7863840" cy="548640"/>
          </a:xfrm>
          <a:prstGeom prst="rect">
            <a:avLst/>
          </a:prstGeom>
          <a:noFill/>
          <a:ln/>
        </p:spPr>
        <p:txBody>
          <a:bodyPr wrap="square" rtlCol="0" anchor="ctr"/>
          <a:lstStyle/>
          <a:p>
            <a:pPr algn="ctr" indent="0" marL="0">
              <a:buNone/>
            </a:pPr>
            <a:r>
              <a:rPr lang="en-US" sz="1100" dirty="0">
                <a:solidFill>
                  <a:srgbClr val="06B6D4"/>
                </a:solidFill>
                <a:latin typeface="Calibri" pitchFamily="34" charset="0"/>
                <a:ea typeface="Calibri" pitchFamily="34" charset="-122"/>
                <a:cs typeface="Calibri" pitchFamily="34" charset="-120"/>
              </a:rPr>
              <a:t>Tech Stack: SAS Viya  |  Python  |  ChromaDB  |  LangChain  |  Claude MCP SDK  |  Pinnacle 21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Clinical SAS Programmers - Training Program</dc:title>
  <dc:subject>PptxGenJS Presentation</dc:subject>
  <dc:creator>Vikas Gaddu</dc:creator>
  <cp:lastModifiedBy>Vikas Gaddu</cp:lastModifiedBy>
  <cp:revision>1</cp:revision>
  <dcterms:created xsi:type="dcterms:W3CDTF">2026-02-16T01:18:07Z</dcterms:created>
  <dcterms:modified xsi:type="dcterms:W3CDTF">2026-02-16T01:18:07Z</dcterms:modified>
</cp:coreProperties>
</file>